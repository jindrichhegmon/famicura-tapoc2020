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3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510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Úvod: tahle prezentace vypráví, co se děje od chvíle, kdy je kamera nainstalovaná u klienta doma. Dvě role: rodina na telefonu a dispečink poskytovatele.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Zdůraznit: rodina drží kontrolu, poskytovatel vidí jen to, co rodina povolí. Kamera je obyčejná Tapo, brána Mango se postará o bezpečné spojení.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Instalaci dělá technik poskytovatele, rodina nic neinstaluje. SMS s pozvánkou odchází ze serveru, dispečer ji může poslat i ze svého telefonu.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Rodina otevře aplikaci z plochy telefonu, přihlášení platí 30 dní. Nejdůležitější věta na obrazovce: Teď poskytovatel vidí.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Všechno tohle nastavuje jen rodina. Dispečink režim nikdy nemění sám, může jen požádat nebo v nouzi použít povolený nouzový přístup.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Nepřevzatý kritický alert po 2 minutách eskaluje na zálohu a vedoucího. Dispečink má vestavěnou nápovědu a asistenta, který odpovídá na otázky k obsluze.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 prodej: zaškolení dispečera je otázka hodiny, nápověda a asistent jsou přímo v aplikaci.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Tahle tabulka je jádro prodejního argumentu: rodina má kontrolu nad soukromím, poskytovatel nad kvalitou dohledu. Nikdo nemůže obejít druhého.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Vyprávět jako příběh paní Marie: ráno, odpoledne, noc. Pointa: systém je tichý, dokud není důvod.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Pointa: i při kritickém alertu zůstává rodina v obraze. Dispečerka buď požádá, nebo použije nouzový přístup, který rodina předem povolila.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Tohle je slide k předvedení naživo: na Macu dispečink, na telefonu rodina. Celé kolo trvá pod minutu.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Argument pro prodej: nouzový přístup je pojistka, rodina ho může kdykoli vypnout. Vše je dohledatelné.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Nejčastější námitka rodin je soukromí. Odpověď: tři režimy bez plného obrazu, rodina rozhoduje, vše je v historii.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Provozní jistoty: tunel se obnovuje sám, nic se nenastavuje znovu. Diagnostika řekne, kde je problém.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QR kód rodiny otevře ukázku bez přihlášení, bezpečné i pro cizí telefon. Heslo k dispečinku dávejte jen při osobním předvedení.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Zakončit nabídkou živé ukázky: dispečink na počítači, aplikace rodiny na telefonu zájemce. Doplnit cenu a kontakt.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31569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A2340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123380"/>
            <a:ext cx="10566400" cy="392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31569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A2340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123380"/>
            <a:ext cx="10566400" cy="392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"/>
            <a:ext cx="12192000" cy="6858000"/>
          </a:xfrm>
          <a:prstGeom prst="rect">
            <a:avLst/>
          </a:prstGeom>
          <a:gradFill rotWithShape="1">
            <a:gsLst>
              <a:gs pos="0">
                <a:srgbClr val="14205A"/>
              </a:gs>
              <a:gs pos="100000">
                <a:srgbClr val="1B4FB8"/>
              </a:gs>
            </a:gsLst>
            <a:lin ang="4200000" scaled="0"/>
          </a:gra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57683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8B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FAMI</a:t>
            </a:r>
            <a:r>
              <a:rPr lang="en-US" sz="2200" b="1" dirty="0">
                <a:solidFill>
                  <a:srgbClr val="F6F8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CURA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389634" y="883890"/>
            <a:ext cx="334672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FD0F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Kamera · dohled nad blízkým doma</a:t>
            </a:r>
            <a:endParaRPr lang="en-US" sz="14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12800" y="2885480"/>
            <a:ext cx="10883392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i="0" dirty="0" err="1">
                <a:solidFill>
                  <a:srgbClr val="F6F8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Dohledový</a:t>
            </a:r>
            <a:r>
              <a:rPr lang="en-US" sz="5600" b="1" i="0" dirty="0">
                <a:solidFill>
                  <a:srgbClr val="F6F8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</a:t>
            </a:r>
            <a:r>
              <a:rPr lang="en-US" sz="5600" b="1" i="0" dirty="0" err="1">
                <a:solidFill>
                  <a:srgbClr val="F6F8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systém</a:t>
            </a:r>
            <a:r>
              <a:rPr lang="en-US" sz="5600" b="1" i="0" dirty="0">
                <a:solidFill>
                  <a:srgbClr val="F6F8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pro </a:t>
            </a:r>
            <a:r>
              <a:rPr lang="en-US" sz="5600" b="1" i="0" dirty="0" err="1">
                <a:solidFill>
                  <a:srgbClr val="F6F8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domácnost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12800" y="3784600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BFD0F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 vidí rodina, co vidí dispečink, kdo co nastavuje a jak se žádá o plný obraz.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2800" y="579631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FD0F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Podklad pro prodejní instruktáž · říjen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3B5B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 TO JE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15690"/>
            <a:ext cx="11379200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A234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Jedna kamera doma, dvě aplikace, jeden server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75755"/>
            <a:ext cx="3380284" cy="1992511"/>
          </a:xfrm>
          <a:prstGeom prst="roundRect">
            <a:avLst>
              <a:gd name="adj" fmla="val 6215"/>
            </a:avLst>
          </a:prstGeom>
          <a:solidFill>
            <a:srgbClr val="FFFFFF"/>
          </a:solidFill>
          <a:ln w="635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5" name="Image 0" descr="Hom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7750" y="2307530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7750" y="2739330"/>
            <a:ext cx="300423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 klienta doma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47750" y="3089821"/>
            <a:ext cx="3004236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Kamera Tapo a malá brána Mango. Zapojí se do zásuvky a k internetu, nic dalšího doma není.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05809" y="2075755"/>
            <a:ext cx="3380333" cy="1992511"/>
          </a:xfrm>
          <a:prstGeom prst="roundRect">
            <a:avLst>
              <a:gd name="adj" fmla="val 6215"/>
            </a:avLst>
          </a:prstGeom>
          <a:solidFill>
            <a:srgbClr val="FFFFFF"/>
          </a:solidFill>
          <a:ln w="635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9" name="Image 1" descr="Users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37584" y="2307530"/>
            <a:ext cx="355600" cy="355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37584" y="2739330"/>
            <a:ext cx="300428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Rodina na telefonu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637584" y="3089821"/>
            <a:ext cx="3004287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Vidí obraz a události, rozhoduje, co smí vidět poskytovatel, povoluje plný obraz.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995692" y="2075755"/>
            <a:ext cx="3380333" cy="1992511"/>
          </a:xfrm>
          <a:prstGeom prst="roundRect">
            <a:avLst>
              <a:gd name="adj" fmla="val 6215"/>
            </a:avLst>
          </a:prstGeom>
          <a:solidFill>
            <a:srgbClr val="FFFFFF"/>
          </a:solidFill>
          <a:ln w="635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3" name="Image 2" descr="Activity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27467" y="2307530"/>
            <a:ext cx="355600" cy="355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7467" y="2739330"/>
            <a:ext cx="300428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Dispečink poskytovatele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227467" y="3089821"/>
            <a:ext cx="3004287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Dlaždice všech klientů, fronta alertů, převzetí a řešení, žádost o plný obraz.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12800" y="4325441"/>
            <a:ext cx="11379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Obraz jde šifrovaným tunelem na server Famicura v Česku. Nikdo jiný ho nevidí; rodina vždy ví, co poskytovatel vidí a proč.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12800" y="6238280"/>
            <a:ext cx="16600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Famicura Kamera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3B5B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DEN INSTALACE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1569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A234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Za půl hodiny je vše připravené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72580"/>
            <a:ext cx="2527300" cy="2199580"/>
          </a:xfrm>
          <a:prstGeom prst="roundRect">
            <a:avLst>
              <a:gd name="adj" fmla="val 5774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1016000" y="2275780"/>
            <a:ext cx="2184527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3B5B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16000" y="2837111"/>
            <a:ext cx="218452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Kamera a brána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3144441"/>
            <a:ext cx="2184527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Technik zapojí Mango k internetu klienta a kameru na jeho Wi-Fi. Tunel k serveru se naváže sám.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92500" y="2072580"/>
            <a:ext cx="2527300" cy="2199580"/>
          </a:xfrm>
          <a:prstGeom prst="roundRect">
            <a:avLst>
              <a:gd name="adj" fmla="val 5774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3695700" y="2275780"/>
            <a:ext cx="2184527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3B5B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95700" y="2837111"/>
            <a:ext cx="218452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Kamera v dispečinku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95700" y="3144441"/>
            <a:ext cx="2184527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Dispečink vidí novou dlaždici klienta s obrazem a začne odebírat události z kamery.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2072580"/>
            <a:ext cx="2527300" cy="2199580"/>
          </a:xfrm>
          <a:prstGeom prst="roundRect">
            <a:avLst>
              <a:gd name="adj" fmla="val 5774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6375400" y="2275780"/>
            <a:ext cx="2184527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3B5B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75400" y="2837111"/>
            <a:ext cx="218452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Pozvánka rodině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75400" y="3144441"/>
            <a:ext cx="2184527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Dispečer zadá jméno a telefon člena rodiny. Odejde SMS s odkazem, platí 7 dní.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51900" y="2072580"/>
            <a:ext cx="2527300" cy="2199580"/>
          </a:xfrm>
          <a:prstGeom prst="roundRect">
            <a:avLst>
              <a:gd name="adj" fmla="val 5774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9055100" y="2275780"/>
            <a:ext cx="2184527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3B5B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055100" y="2837111"/>
            <a:ext cx="218452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Rodina si zvolí heslo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55100" y="3144441"/>
            <a:ext cx="2184527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Klepne na odkaz, zvolí heslo a uloží si aplikaci na plochu telefonu. Dál se přihlašuje telefonem a heslem.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452616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 klient potřebuje: zásuvku, internet (kabel nebo Wi-Fi) a člena rodiny s chytrým telefonem.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16600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Famicura Kamera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D935F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RODINA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1569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A234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 rodina vidí na telefonu</a:t>
            </a:r>
            <a:endParaRPr lang="en-US" sz="3600" dirty="0"/>
          </a:p>
        </p:txBody>
      </p:sp>
      <p:pic>
        <p:nvPicPr>
          <p:cNvPr id="4" name="Image 0" descr="CheckCircle"/>
          <p:cNvPicPr>
            <a:picLocks noChangeAspect="1"/>
          </p:cNvPicPr>
          <p:nvPr/>
        </p:nvPicPr>
        <p:blipFill>
          <a:blip r:embed="rId3"/>
          <a:srcRect l="-623" r="-623"/>
          <a:stretch/>
        </p:blipFill>
        <p:spPr>
          <a:xfrm>
            <a:off x="812800" y="2072580"/>
            <a:ext cx="205730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0130" y="2072580"/>
            <a:ext cx="625011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Nahoře stav:</a:t>
            </a:r>
            <a:r>
              <a:rPr lang="en-US" sz="1500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Vše v pořádku, Varování nebo Kritická událost, a poslední událost s časem.</a:t>
            </a:r>
            <a:endParaRPr lang="en-US" sz="1500" dirty="0"/>
          </a:p>
        </p:txBody>
      </p:sp>
      <p:pic>
        <p:nvPicPr>
          <p:cNvPr id="6" name="Image 1" descr="Play"/>
          <p:cNvPicPr>
            <a:picLocks noChangeAspect="1"/>
          </p:cNvPicPr>
          <p:nvPr/>
        </p:nvPicPr>
        <p:blipFill>
          <a:blip r:embed="rId4"/>
          <a:srcRect l="-419" r="-419"/>
          <a:stretch/>
        </p:blipFill>
        <p:spPr>
          <a:xfrm>
            <a:off x="812800" y="2732980"/>
            <a:ext cx="172889" cy="254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87289" y="2732980"/>
            <a:ext cx="628393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Živý obraz z kamery</a:t>
            </a:r>
            <a:r>
              <a:rPr lang="en-US" sz="1500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ve zvoleném zobrazení: normální, rozostřený, nebo drátěný model na černém pozadí.</a:t>
            </a:r>
            <a:endParaRPr lang="en-US" sz="1500" dirty="0"/>
          </a:p>
        </p:txBody>
      </p:sp>
      <p:pic>
        <p:nvPicPr>
          <p:cNvPr id="8" name="Image 2" descr="Loc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2800" y="3393380"/>
            <a:ext cx="254000" cy="254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68400" y="3393380"/>
            <a:ext cx="6273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Přístup poskytovatele:</a:t>
            </a:r>
            <a:r>
              <a:rPr lang="en-US" sz="1500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jasně napsáno, co poskytovatel vidí teď a proč.</a:t>
            </a:r>
            <a:endParaRPr lang="en-US" sz="1500" dirty="0"/>
          </a:p>
        </p:txBody>
      </p:sp>
      <p:pic>
        <p:nvPicPr>
          <p:cNvPr id="10" name="Image 3" descr="Clock"/>
          <p:cNvPicPr>
            <a:picLocks noChangeAspect="1"/>
          </p:cNvPicPr>
          <p:nvPr/>
        </p:nvPicPr>
        <p:blipFill>
          <a:blip r:embed="rId6"/>
          <a:srcRect t="-394" b="-394"/>
          <a:stretch/>
        </p:blipFill>
        <p:spPr>
          <a:xfrm>
            <a:off x="812800" y="3787080"/>
            <a:ext cx="252016" cy="254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66416" y="3787080"/>
            <a:ext cx="620243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Historie:</a:t>
            </a:r>
            <a:r>
              <a:rPr lang="en-US" sz="1500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každá událost, každý souhlas, kdo se kdy díval. Nic se neztratí.</a:t>
            </a:r>
            <a:endParaRPr lang="en-US" sz="1500" dirty="0"/>
          </a:p>
        </p:txBody>
      </p:sp>
      <p:pic>
        <p:nvPicPr>
          <p:cNvPr id="12" name="Image 4" descr="Telefon rodiny: úvodní obrazovka se stavem Vše v pořádku a živým obrazem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0283" y="2078930"/>
            <a:ext cx="1725334" cy="3733800"/>
          </a:xfrm>
          <a:custGeom>
            <a:avLst/>
            <a:gdLst/>
            <a:ahLst/>
            <a:cxnLst/>
            <a:rect l="l" t="t" r="r" b="b"/>
            <a:pathLst>
              <a:path w="1725334" h="3733800">
                <a:moveTo>
                  <a:pt x="0" y="21620"/>
                </a:moveTo>
                <a:arcTo wR="120650" hR="120650" stAng="14109901" swAng="2090099"/>
                <a:lnTo>
                  <a:pt x="1656417" y="0"/>
                </a:lnTo>
                <a:arcTo wR="120650" hR="120650" stAng="16200000" swAng="2090099"/>
                <a:lnTo>
                  <a:pt x="1725334" y="3712180"/>
                </a:lnTo>
                <a:arcTo wR="120650" hR="120650" stAng="3309901" swAng="2090099"/>
                <a:lnTo>
                  <a:pt x="68917" y="3733800"/>
                </a:lnTo>
                <a:arcTo wR="120650" hR="120650" stAng="5400000" swAng="2090099"/>
                <a:close/>
              </a:path>
            </a:pathLst>
          </a:custGeom>
        </p:spPr>
      </p:pic>
      <p:sp>
        <p:nvSpPr>
          <p:cNvPr id="13" name="Shape 6"/>
          <p:cNvSpPr/>
          <p:nvPr/>
        </p:nvSpPr>
        <p:spPr>
          <a:xfrm>
            <a:off x="7445375" y="2075755"/>
            <a:ext cx="1835150" cy="3740150"/>
          </a:xfrm>
          <a:prstGeom prst="roundRect">
            <a:avLst>
              <a:gd name="adj" fmla="val 6747"/>
            </a:avLst>
          </a:prstGeom>
          <a:noFill/>
          <a:ln w="635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4" name="Image 5" descr="Telefon rodiny: karta Přístup poskytovatele s rychlým přepnutím a nastavením podle denní doby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3383" y="2078930"/>
            <a:ext cx="1725334" cy="3733800"/>
          </a:xfrm>
          <a:custGeom>
            <a:avLst/>
            <a:gdLst/>
            <a:ahLst/>
            <a:cxnLst/>
            <a:rect l="l" t="t" r="r" b="b"/>
            <a:pathLst>
              <a:path w="1725334" h="3733800">
                <a:moveTo>
                  <a:pt x="0" y="21620"/>
                </a:moveTo>
                <a:arcTo wR="120650" hR="120650" stAng="14109901" swAng="2090099"/>
                <a:lnTo>
                  <a:pt x="1656417" y="0"/>
                </a:lnTo>
                <a:arcTo wR="120650" hR="120650" stAng="16200000" swAng="2090099"/>
                <a:lnTo>
                  <a:pt x="1725334" y="3712180"/>
                </a:lnTo>
                <a:arcTo wR="120650" hR="120650" stAng="3309901" swAng="2090099"/>
                <a:lnTo>
                  <a:pt x="68917" y="3733800"/>
                </a:lnTo>
                <a:arcTo wR="120650" hR="120650" stAng="5400000" swAng="2090099"/>
                <a:close/>
              </a:path>
            </a:pathLst>
          </a:custGeom>
        </p:spPr>
      </p:pic>
      <p:sp>
        <p:nvSpPr>
          <p:cNvPr id="15" name="Shape 7"/>
          <p:cNvSpPr/>
          <p:nvPr/>
        </p:nvSpPr>
        <p:spPr>
          <a:xfrm>
            <a:off x="9388475" y="2075755"/>
            <a:ext cx="1835150" cy="3740150"/>
          </a:xfrm>
          <a:prstGeom prst="roundRect">
            <a:avLst>
              <a:gd name="adj" fmla="val 6747"/>
            </a:avLst>
          </a:prstGeom>
          <a:noFill/>
          <a:ln w="635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8"/>
          <p:cNvSpPr/>
          <p:nvPr/>
        </p:nvSpPr>
        <p:spPr>
          <a:xfrm>
            <a:off x="812800" y="6238280"/>
            <a:ext cx="16600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Famicura Kamera · 4</a:t>
            </a:r>
            <a:endParaRPr lang="en-US" sz="1200" dirty="0"/>
          </a:p>
        </p:txBody>
      </p:sp>
      <p:pic>
        <p:nvPicPr>
          <p:cNvPr id="17" name="Obrázek 16">
            <a:extLst>
              <a:ext uri="{FF2B5EF4-FFF2-40B4-BE49-F238E27FC236}">
                <a16:creationId xmlns:a16="http://schemas.microsoft.com/office/drawing/2014/main" id="{581666D7-950D-4474-3169-89FAF0A304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96917" y="2765283"/>
            <a:ext cx="1532066" cy="9600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D935F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RODINA ROZHODUJE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90290"/>
            <a:ext cx="11379200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A234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Čtyři režimy obrazu, den a noc, rychlé přepnutí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21780"/>
            <a:ext cx="2546350" cy="1150590"/>
          </a:xfrm>
          <a:prstGeom prst="roundRect">
            <a:avLst>
              <a:gd name="adj" fmla="val 9934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812800" y="2021780"/>
            <a:ext cx="2546350" cy="1150590"/>
          </a:xfrm>
          <a:custGeom>
            <a:avLst/>
            <a:gdLst/>
            <a:ahLst/>
            <a:cxnLst/>
            <a:rect l="l" t="t" r="r" b="b"/>
            <a:pathLst>
              <a:path w="2546350" h="1150590">
                <a:moveTo>
                  <a:pt x="0" y="114300"/>
                </a:moveTo>
                <a:lnTo>
                  <a:pt x="0" y="114300"/>
                </a:lnTo>
                <a:arcTo wR="114300" hR="114300" stAng="10800000" swAng="5400000"/>
                <a:lnTo>
                  <a:pt x="2432050" y="0"/>
                </a:lnTo>
                <a:arcTo wR="114300" hR="114300" stAng="16200000" swAng="5400000"/>
                <a:lnTo>
                  <a:pt x="2546350" y="114300"/>
                </a:lnTo>
                <a:arcTo wR="114300" hR="76200" stAng="0" swAng="-5400000"/>
                <a:lnTo>
                  <a:pt x="114300" y="38100"/>
                </a:lnTo>
                <a:arcTo wR="114300" hR="76200" stAng="16200000" swAng="-5400000"/>
                <a:close/>
              </a:path>
            </a:pathLst>
          </a:custGeom>
          <a:solidFill>
            <a:srgbClr val="2E9E5B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990600" y="2237680"/>
            <a:ext cx="225647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Plný obraz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600" y="2532311"/>
            <a:ext cx="225647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Poskytovatel vidí byt jako na kameře.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86150" y="2021780"/>
            <a:ext cx="2546350" cy="1150590"/>
          </a:xfrm>
          <a:prstGeom prst="roundRect">
            <a:avLst>
              <a:gd name="adj" fmla="val 9934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3486150" y="2021780"/>
            <a:ext cx="2546350" cy="1150590"/>
          </a:xfrm>
          <a:custGeom>
            <a:avLst/>
            <a:gdLst/>
            <a:ahLst/>
            <a:cxnLst/>
            <a:rect l="l" t="t" r="r" b="b"/>
            <a:pathLst>
              <a:path w="2546350" h="1150590">
                <a:moveTo>
                  <a:pt x="0" y="114300"/>
                </a:moveTo>
                <a:lnTo>
                  <a:pt x="0" y="114300"/>
                </a:lnTo>
                <a:arcTo wR="114300" hR="114300" stAng="10800000" swAng="5400000"/>
                <a:lnTo>
                  <a:pt x="2432050" y="0"/>
                </a:lnTo>
                <a:arcTo wR="114300" hR="114300" stAng="16200000" swAng="5400000"/>
                <a:lnTo>
                  <a:pt x="2546350" y="114300"/>
                </a:lnTo>
                <a:arcTo wR="114300" hR="76200" stAng="0" swAng="-5400000"/>
                <a:lnTo>
                  <a:pt x="114300" y="38100"/>
                </a:lnTo>
                <a:arcTo wR="114300" hR="76200" stAng="16200000" swAng="-5400000"/>
                <a:close/>
              </a:path>
            </a:pathLst>
          </a:custGeom>
          <a:solidFill>
            <a:srgbClr val="3B5BF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3663950" y="2237680"/>
            <a:ext cx="225647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Rozostření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63950" y="2532311"/>
            <a:ext cx="225647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Je vidět pohyb a situace, ne detaily a tváře.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59500" y="2021780"/>
            <a:ext cx="2546350" cy="1150590"/>
          </a:xfrm>
          <a:prstGeom prst="roundRect">
            <a:avLst>
              <a:gd name="adj" fmla="val 9934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6159500" y="2021780"/>
            <a:ext cx="2546350" cy="1150590"/>
          </a:xfrm>
          <a:custGeom>
            <a:avLst/>
            <a:gdLst/>
            <a:ahLst/>
            <a:cxnLst/>
            <a:rect l="l" t="t" r="r" b="b"/>
            <a:pathLst>
              <a:path w="2546350" h="1150590">
                <a:moveTo>
                  <a:pt x="0" y="114300"/>
                </a:moveTo>
                <a:lnTo>
                  <a:pt x="0" y="114300"/>
                </a:lnTo>
                <a:arcTo wR="114300" hR="114300" stAng="10800000" swAng="5400000"/>
                <a:lnTo>
                  <a:pt x="2432050" y="0"/>
                </a:lnTo>
                <a:arcTo wR="114300" hR="114300" stAng="16200000" swAng="5400000"/>
                <a:lnTo>
                  <a:pt x="2546350" y="114300"/>
                </a:lnTo>
                <a:arcTo wR="114300" hR="76200" stAng="0" swAng="-5400000"/>
                <a:lnTo>
                  <a:pt x="114300" y="38100"/>
                </a:lnTo>
                <a:arcTo wR="114300" hR="76200" stAng="16200000" swAng="-5400000"/>
                <a:close/>
              </a:path>
            </a:pathLst>
          </a:custGeom>
          <a:solidFill>
            <a:srgbClr val="D935F0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6337300" y="2237680"/>
            <a:ext cx="225647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Drátěný model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37300" y="2532311"/>
            <a:ext cx="225647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Jen kostra postavy: stojí, sedí, leží. Žádný obraz bytu.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32850" y="2021780"/>
            <a:ext cx="2546350" cy="1150590"/>
          </a:xfrm>
          <a:prstGeom prst="roundRect">
            <a:avLst>
              <a:gd name="adj" fmla="val 9934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8832850" y="2021780"/>
            <a:ext cx="2546350" cy="1150590"/>
          </a:xfrm>
          <a:custGeom>
            <a:avLst/>
            <a:gdLst/>
            <a:ahLst/>
            <a:cxnLst/>
            <a:rect l="l" t="t" r="r" b="b"/>
            <a:pathLst>
              <a:path w="2546350" h="1150590">
                <a:moveTo>
                  <a:pt x="0" y="114300"/>
                </a:moveTo>
                <a:lnTo>
                  <a:pt x="0" y="114300"/>
                </a:lnTo>
                <a:arcTo wR="114300" hR="114300" stAng="10800000" swAng="5400000"/>
                <a:lnTo>
                  <a:pt x="2432050" y="0"/>
                </a:lnTo>
                <a:arcTo wR="114300" hR="114300" stAng="16200000" swAng="5400000"/>
                <a:lnTo>
                  <a:pt x="2546350" y="114300"/>
                </a:lnTo>
                <a:arcTo wR="114300" hR="76200" stAng="0" swAng="-5400000"/>
                <a:lnTo>
                  <a:pt x="114300" y="38100"/>
                </a:lnTo>
                <a:arcTo wR="114300" hR="76200" stAng="16200000" swAng="-5400000"/>
                <a:close/>
              </a:path>
            </a:pathLst>
          </a:custGeom>
          <a:solidFill>
            <a:srgbClr val="6A717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9010650" y="2237680"/>
            <a:ext cx="225647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Žádný obraz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10650" y="2532311"/>
            <a:ext cx="225647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Jen události: pohyb, osoba, překročení čáry, pád.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5975" y="3404146"/>
            <a:ext cx="3431084" cy="1283940"/>
          </a:xfrm>
          <a:prstGeom prst="roundRect">
            <a:avLst>
              <a:gd name="adj" fmla="val 8655"/>
            </a:avLst>
          </a:prstGeom>
          <a:noFill/>
          <a:ln w="635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996950" y="3559721"/>
            <a:ext cx="31612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Podle denní doby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96950" y="3839121"/>
            <a:ext cx="3161208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Jiný režim ve dne a jiný v noci. Rodina si nastaví, kdy den a noc začínají (třeba 06:00 a 22:00).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80409" y="3404146"/>
            <a:ext cx="3431133" cy="1283940"/>
          </a:xfrm>
          <a:prstGeom prst="roundRect">
            <a:avLst>
              <a:gd name="adj" fmla="val 8655"/>
            </a:avLst>
          </a:prstGeom>
          <a:noFill/>
          <a:ln w="635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Text 22"/>
          <p:cNvSpPr/>
          <p:nvPr/>
        </p:nvSpPr>
        <p:spPr>
          <a:xfrm>
            <a:off x="4561384" y="3559721"/>
            <a:ext cx="316125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Rychlé přepnutí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61384" y="3839121"/>
            <a:ext cx="3161259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Tři tlačítka: Ostrý, Rozmazaný, Drátěný model. Platí do další změny nebo do střídání den/noc, pak se vrátí nastavení.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944892" y="3404146"/>
            <a:ext cx="3431133" cy="1283940"/>
          </a:xfrm>
          <a:prstGeom prst="roundRect">
            <a:avLst>
              <a:gd name="adj" fmla="val 8655"/>
            </a:avLst>
          </a:prstGeom>
          <a:noFill/>
          <a:ln w="635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Text 25"/>
          <p:cNvSpPr/>
          <p:nvPr/>
        </p:nvSpPr>
        <p:spPr>
          <a:xfrm>
            <a:off x="8125867" y="3559721"/>
            <a:ext cx="316125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 nouzi plný obraz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125867" y="3839121"/>
            <a:ext cx="3161259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Přepínač: při pádu nebo SOS smí dispečink otevřít plný obraz na 10 minut bez čekání. Rodina se to dozví hned.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80"/>
            <a:ext cx="16600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Famicura Kamera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61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4"/>
              </a:lnSpc>
              <a:buNone/>
            </a:pPr>
            <a:r>
              <a:rPr lang="en-US" sz="1339" b="1" kern="0" spc="100" dirty="0">
                <a:solidFill>
                  <a:srgbClr val="3B5B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DISPEČINK</a:t>
            </a:r>
            <a:endParaRPr lang="en-US" sz="1339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02544"/>
            <a:ext cx="10883392" cy="501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74"/>
              </a:lnSpc>
              <a:buNone/>
            </a:pPr>
            <a:r>
              <a:rPr lang="en-US" sz="3431" b="1" i="0" dirty="0">
                <a:solidFill>
                  <a:srgbClr val="1A234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 vidí dispečink poskytovatele</a:t>
            </a:r>
            <a:endParaRPr lang="en-US" sz="3431" dirty="0"/>
          </a:p>
        </p:txBody>
      </p:sp>
      <p:pic>
        <p:nvPicPr>
          <p:cNvPr id="4" name="Image 0" descr="Dispečink: dlaždice klientů v režimu, který rodina povolila, červený pruh kritického alertu a fronta alertů vpravo"/>
          <p:cNvPicPr>
            <a:picLocks noChangeAspect="1"/>
          </p:cNvPicPr>
          <p:nvPr/>
        </p:nvPicPr>
        <p:blipFill>
          <a:blip r:embed="rId3"/>
          <a:srcRect t="50" b="50"/>
          <a:stretch/>
        </p:blipFill>
        <p:spPr>
          <a:xfrm>
            <a:off x="819150" y="2039243"/>
            <a:ext cx="5321300" cy="3517900"/>
          </a:xfrm>
          <a:prstGeom prst="roundRect">
            <a:avLst>
              <a:gd name="adj" fmla="val 2708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15975" y="2036068"/>
            <a:ext cx="5327650" cy="3524250"/>
          </a:xfrm>
          <a:prstGeom prst="roundRect">
            <a:avLst>
              <a:gd name="adj" fmla="val 2793"/>
            </a:avLst>
          </a:prstGeom>
          <a:noFill/>
          <a:ln w="635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/>
          <p:nvPr/>
        </p:nvSpPr>
        <p:spPr>
          <a:xfrm>
            <a:off x="812800" y="5626993"/>
            <a:ext cx="549402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Dispečink v režimu Demo: skutečná kamera první, ukázkoví klienti za ní, nahoře kritický alert k převzetí.</a:t>
            </a:r>
            <a:endParaRPr lang="en-US" sz="1200" dirty="0"/>
          </a:p>
        </p:txBody>
      </p:sp>
      <p:pic>
        <p:nvPicPr>
          <p:cNvPr id="7" name="Image 1" descr="Warning"/>
          <p:cNvPicPr>
            <a:picLocks noChangeAspect="1"/>
          </p:cNvPicPr>
          <p:nvPr/>
        </p:nvPicPr>
        <p:blipFill>
          <a:blip r:embed="rId4"/>
          <a:srcRect l="-19" r="-19"/>
          <a:stretch/>
        </p:blipFill>
        <p:spPr>
          <a:xfrm>
            <a:off x="6400800" y="2032893"/>
            <a:ext cx="127050" cy="254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29450" y="2032893"/>
            <a:ext cx="48922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Fronta alertů:</a:t>
            </a:r>
            <a:r>
              <a:rPr lang="en-US" sz="1500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pád, dlouhé ležení, SOS, překročení čáry, zakrytí kamery. Převzít → Řeším → Uzavřít s výsledkem.</a:t>
            </a:r>
            <a:endParaRPr lang="en-US" sz="1500" dirty="0"/>
          </a:p>
        </p:txBody>
      </p:sp>
      <p:pic>
        <p:nvPicPr>
          <p:cNvPr id="9" name="Image 2" descr="Lock"/>
          <p:cNvPicPr>
            <a:picLocks noChangeAspect="1"/>
          </p:cNvPicPr>
          <p:nvPr/>
        </p:nvPicPr>
        <p:blipFill>
          <a:blip r:embed="rId5"/>
          <a:srcRect l="-488" r="-488"/>
          <a:stretch/>
        </p:blipFill>
        <p:spPr>
          <a:xfrm>
            <a:off x="6400800" y="2680593"/>
            <a:ext cx="153888" cy="254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56288" y="2680593"/>
            <a:ext cx="486459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 každého klienta:</a:t>
            </a:r>
            <a:r>
              <a:rPr lang="en-US" sz="1500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co rodina povolila a proč, tlačítko Požádat o plný obraz, nouzový přístup.</a:t>
            </a:r>
            <a:endParaRPr lang="en-US" sz="1500" dirty="0"/>
          </a:p>
        </p:txBody>
      </p:sp>
      <p:pic>
        <p:nvPicPr>
          <p:cNvPr id="11" name="Image 3" descr="Settings"/>
          <p:cNvPicPr>
            <a:picLocks noChangeAspect="1"/>
          </p:cNvPicPr>
          <p:nvPr/>
        </p:nvPicPr>
        <p:blipFill>
          <a:blip r:embed="rId6"/>
          <a:srcRect t="-593" b="-593"/>
          <a:stretch/>
        </p:blipFill>
        <p:spPr>
          <a:xfrm>
            <a:off x="6400800" y="3328293"/>
            <a:ext cx="138063" cy="2540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40463" y="3328293"/>
            <a:ext cx="488089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Sledování a nahrávání:</a:t>
            </a:r>
            <a:r>
              <a:rPr lang="en-US" sz="1500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které události hlídat, v jakých hodinách, co nahrávat. Rodina to vidí jen ke čtení.</a:t>
            </a:r>
            <a:endParaRPr lang="en-US" sz="1500" dirty="0"/>
          </a:p>
        </p:txBody>
      </p:sp>
      <p:pic>
        <p:nvPicPr>
          <p:cNvPr id="13" name="Image 4" descr="Users"/>
          <p:cNvPicPr>
            <a:picLocks noChangeAspect="1"/>
          </p:cNvPicPr>
          <p:nvPr/>
        </p:nvPicPr>
        <p:blipFill>
          <a:blip r:embed="rId7"/>
          <a:srcRect l="-911" r="-911"/>
          <a:stretch/>
        </p:blipFill>
        <p:spPr>
          <a:xfrm>
            <a:off x="6400800" y="3975993"/>
            <a:ext cx="174575" cy="2540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676975" y="3975993"/>
            <a:ext cx="484329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Účty rodiny a údaje poskytovatele</a:t>
            </a:r>
            <a:r>
              <a:rPr lang="en-US" sz="1500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se zadávají na jednom místě a vidí je i rodina.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812800" y="6238280"/>
            <a:ext cx="16600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Famicura Kamera · 6</a:t>
            </a:r>
            <a:endParaRPr lang="en-US" sz="1200" dirty="0"/>
          </a:p>
        </p:txBody>
      </p:sp>
      <p:pic>
        <p:nvPicPr>
          <p:cNvPr id="16" name="Obrázek 15">
            <a:extLst>
              <a:ext uri="{FF2B5EF4-FFF2-40B4-BE49-F238E27FC236}">
                <a16:creationId xmlns:a16="http://schemas.microsoft.com/office/drawing/2014/main" id="{C734CB3B-9C82-3717-7A6A-F4D715FE86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6577" y="2807593"/>
            <a:ext cx="774708" cy="434066"/>
          </a:xfrm>
          <a:prstGeom prst="rect">
            <a:avLst/>
          </a:prstGeom>
        </p:spPr>
      </p:pic>
      <p:pic>
        <p:nvPicPr>
          <p:cNvPr id="17" name="Obrázek 16">
            <a:extLst>
              <a:ext uri="{FF2B5EF4-FFF2-40B4-BE49-F238E27FC236}">
                <a16:creationId xmlns:a16="http://schemas.microsoft.com/office/drawing/2014/main" id="{A02135F9-5020-FFF7-AFB2-45BA53AC3FA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" b="42858"/>
          <a:stretch>
            <a:fillRect/>
          </a:stretch>
        </p:blipFill>
        <p:spPr>
          <a:xfrm>
            <a:off x="936737" y="4393256"/>
            <a:ext cx="3598192" cy="115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5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9"/>
              </a:lnSpc>
              <a:buNone/>
            </a:pPr>
            <a:r>
              <a:rPr lang="en-US" sz="1299" b="1" kern="0" spc="100" dirty="0">
                <a:solidFill>
                  <a:srgbClr val="3B5B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DISPEČINK</a:t>
            </a:r>
            <a:endParaRPr lang="en-US" sz="1299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45642"/>
            <a:ext cx="11379200" cy="953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63"/>
              </a:lnSpc>
              <a:buNone/>
            </a:pPr>
            <a:r>
              <a:rPr lang="en-US" sz="3330" b="1" i="0" dirty="0">
                <a:solidFill>
                  <a:srgbClr val="1A234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Nastavení na jednom místě, nápověda s asistentem</a:t>
            </a:r>
            <a:endParaRPr lang="en-US" sz="3330" dirty="0"/>
          </a:p>
        </p:txBody>
      </p:sp>
      <p:pic>
        <p:nvPicPr>
          <p:cNvPr id="4" name="Image 0" descr="Okno Nastavení: poskytovatel, dispečink, zobrazení"/>
          <p:cNvPicPr>
            <a:picLocks noChangeAspect="1"/>
          </p:cNvPicPr>
          <p:nvPr/>
        </p:nvPicPr>
        <p:blipFill>
          <a:blip r:embed="rId3"/>
          <a:srcRect t="23028" b="23028"/>
          <a:stretch/>
        </p:blipFill>
        <p:spPr>
          <a:xfrm>
            <a:off x="819150" y="2383482"/>
            <a:ext cx="5168900" cy="2971800"/>
          </a:xfrm>
          <a:prstGeom prst="roundRect">
            <a:avLst>
              <a:gd name="adj" fmla="val 2778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15975" y="2380307"/>
            <a:ext cx="5175250" cy="2978150"/>
          </a:xfrm>
          <a:prstGeom prst="roundRect">
            <a:avLst>
              <a:gd name="adj" fmla="val 2878"/>
            </a:avLst>
          </a:prstGeom>
          <a:noFill/>
          <a:ln w="635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/>
          <p:nvPr/>
        </p:nvSpPr>
        <p:spPr>
          <a:xfrm>
            <a:off x="812800" y="5437832"/>
            <a:ext cx="5337048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Ozubené kolečko:</a:t>
            </a:r>
            <a:r>
              <a:rPr lang="en-US" sz="13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název služby, telefon, dispečer, směna, záloha, vedoucí, doba eskalace. Vidí je všichni dispečeři, detail kamery i rodina.</a:t>
            </a:r>
            <a:endParaRPr lang="en-US" sz="1300" dirty="0"/>
          </a:p>
        </p:txBody>
      </p:sp>
      <p:pic>
        <p:nvPicPr>
          <p:cNvPr id="7" name="Image 1" descr="Okno Nápověda, záložka Asistent s odpovědí na otázku o žádosti o plný obraz"/>
          <p:cNvPicPr>
            <a:picLocks noChangeAspect="1"/>
          </p:cNvPicPr>
          <p:nvPr/>
        </p:nvPicPr>
        <p:blipFill>
          <a:blip r:embed="rId4"/>
          <a:srcRect t="12590" b="12590"/>
          <a:stretch/>
        </p:blipFill>
        <p:spPr>
          <a:xfrm>
            <a:off x="6203950" y="2383482"/>
            <a:ext cx="5168900" cy="2971800"/>
          </a:xfrm>
          <a:prstGeom prst="roundRect">
            <a:avLst>
              <a:gd name="adj" fmla="val 2778"/>
            </a:avLst>
          </a:prstGeom>
        </p:spPr>
      </p:pic>
      <p:sp>
        <p:nvSpPr>
          <p:cNvPr id="8" name="Shape 4"/>
          <p:cNvSpPr/>
          <p:nvPr/>
        </p:nvSpPr>
        <p:spPr>
          <a:xfrm>
            <a:off x="6200775" y="2380307"/>
            <a:ext cx="5175250" cy="2978150"/>
          </a:xfrm>
          <a:prstGeom prst="roundRect">
            <a:avLst>
              <a:gd name="adj" fmla="val 2878"/>
            </a:avLst>
          </a:prstGeom>
          <a:noFill/>
          <a:ln w="635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5"/>
          <p:cNvSpPr/>
          <p:nvPr/>
        </p:nvSpPr>
        <p:spPr>
          <a:xfrm>
            <a:off x="6197600" y="5437832"/>
            <a:ext cx="5337048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Otazník:</a:t>
            </a:r>
            <a:r>
              <a:rPr lang="en-US" sz="13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témata s obrázky obrazovek a asistent, který odpoví na otázku dispečera z nápovědy, případně přes AI.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12800" y="6238280"/>
            <a:ext cx="16600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Famicura Kamera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2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2"/>
              </a:lnSpc>
              <a:buNone/>
            </a:pPr>
            <a:r>
              <a:rPr lang="en-US" sz="1194" b="1" kern="0" spc="100" dirty="0">
                <a:solidFill>
                  <a:srgbClr val="3B5B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KDO CO NASTAVUJE</a:t>
            </a:r>
            <a:endParaRPr lang="en-US" sz="1194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48618"/>
            <a:ext cx="11379200" cy="862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75"/>
              </a:lnSpc>
              <a:buNone/>
            </a:pPr>
            <a:r>
              <a:rPr lang="en-US" sz="3341" b="1" i="0" dirty="0">
                <a:solidFill>
                  <a:srgbClr val="1A234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Rodina rozhoduje o obrazu, poskytovatel o dohledu</a:t>
            </a:r>
            <a:endParaRPr lang="en-US" sz="3341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327424"/>
          <a:ext cx="10553700" cy="3514576"/>
        </p:xfrm>
        <a:graphic>
          <a:graphicData uri="http://schemas.openxmlformats.org/drawingml/2006/table">
            <a:tbl>
              <a:tblPr/>
              <a:tblGrid>
                <a:gridCol w="3588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27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27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4480">
                <a:tc>
                  <a:txBody>
                    <a:bodyPr/>
                    <a:lstStyle/>
                    <a:p>
                      <a:pPr marL="0" indent="0">
                        <a:lnSpc>
                          <a:spcPts val="1844"/>
                        </a:lnSpc>
                        <a:buNone/>
                      </a:pPr>
                      <a:r>
                        <a:rPr lang="en-US" sz="1317" b="1" dirty="0">
                          <a:solidFill>
                            <a:srgbClr val="F6F8FC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Co</a:t>
                      </a:r>
                      <a:endParaRPr lang="en-US" sz="1317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8535" marR="58535" marT="58535" marB="5853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44"/>
                        </a:lnSpc>
                        <a:buNone/>
                      </a:pPr>
                      <a:r>
                        <a:rPr lang="en-US" sz="1317" b="1" dirty="0">
                          <a:solidFill>
                            <a:srgbClr val="F6F8FC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Rodina (telefon)</a:t>
                      </a:r>
                      <a:endParaRPr lang="en-US" sz="1317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8535" marR="58535" marT="58535" marB="58535">
                    <a:lnL w="12700" cap="flat" cmpd="sng" algn="ctr">
                      <a:solidFill>
                        <a:srgbClr val="141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44"/>
                        </a:lnSpc>
                        <a:buNone/>
                      </a:pPr>
                      <a:r>
                        <a:rPr lang="en-US" sz="1317" b="1" dirty="0">
                          <a:solidFill>
                            <a:srgbClr val="F6F8FC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Dispečink poskytovatele</a:t>
                      </a:r>
                      <a:endParaRPr lang="en-US" sz="1317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8535" marR="58535" marT="58535" marB="58535">
                    <a:lnL w="12700" cap="flat" cmpd="sng" algn="ctr">
                      <a:solidFill>
                        <a:srgbClr val="141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480">
                <a:tc>
                  <a:txBody>
                    <a:bodyPr/>
                    <a:lstStyle/>
                    <a:p>
                      <a:pPr marL="0" indent="0">
                        <a:lnSpc>
                          <a:spcPts val="1844"/>
                        </a:lnSpc>
                        <a:buNone/>
                      </a:pPr>
                      <a:r>
                        <a:rPr lang="en-US" sz="1317" dirty="0">
                          <a:solidFill>
                            <a:srgbClr val="1A23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Režim obrazu ve dne a v noci, časy střídání</a:t>
                      </a:r>
                      <a:endParaRPr lang="en-US" sz="1317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8535" marR="58535" marT="58535" marB="5853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44"/>
                        </a:lnSpc>
                        <a:buNone/>
                      </a:pPr>
                      <a:r>
                        <a:rPr lang="en-US" sz="1317" dirty="0">
                          <a:solidFill>
                            <a:srgbClr val="2E9E5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nastavuje</a:t>
                      </a:r>
                      <a:endParaRPr lang="en-US" sz="1317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8535" marR="58535" marT="58535" marB="5853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44"/>
                        </a:lnSpc>
                        <a:buNone/>
                      </a:pPr>
                      <a:r>
                        <a:rPr lang="en-US" sz="1317" dirty="0">
                          <a:solidFill>
                            <a:srgbClr val="1A23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vidí, co bylo povoleno a proč</a:t>
                      </a:r>
                      <a:endParaRPr lang="en-US" sz="1317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8535" marR="58535" marT="58535" marB="5853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480">
                <a:tc>
                  <a:txBody>
                    <a:bodyPr/>
                    <a:lstStyle/>
                    <a:p>
                      <a:pPr marL="0" indent="0">
                        <a:lnSpc>
                          <a:spcPts val="1844"/>
                        </a:lnSpc>
                        <a:buNone/>
                      </a:pPr>
                      <a:r>
                        <a:rPr lang="en-US" sz="1317" dirty="0">
                          <a:solidFill>
                            <a:srgbClr val="1A23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Rychlé přepnutí obrazu</a:t>
                      </a:r>
                      <a:endParaRPr lang="en-US" sz="1317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8535" marR="58535" marT="58535" marB="5853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44"/>
                        </a:lnSpc>
                        <a:buNone/>
                      </a:pPr>
                      <a:r>
                        <a:rPr lang="en-US" sz="1317" dirty="0">
                          <a:solidFill>
                            <a:srgbClr val="2E9E5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nastavuje</a:t>
                      </a:r>
                      <a:endParaRPr lang="en-US" sz="1317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8535" marR="58535" marT="58535" marB="58535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44"/>
                        </a:lnSpc>
                        <a:buNone/>
                      </a:pPr>
                      <a:r>
                        <a:rPr lang="en-US" sz="1317" dirty="0">
                          <a:solidFill>
                            <a:srgbClr val="1A23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vidí</a:t>
                      </a:r>
                      <a:endParaRPr lang="en-US" sz="1317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8535" marR="58535" marT="58535" marB="58535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480">
                <a:tc>
                  <a:txBody>
                    <a:bodyPr/>
                    <a:lstStyle/>
                    <a:p>
                      <a:pPr marL="0" indent="0">
                        <a:lnSpc>
                          <a:spcPts val="1844"/>
                        </a:lnSpc>
                        <a:buNone/>
                      </a:pPr>
                      <a:r>
                        <a:rPr lang="en-US" sz="1317" dirty="0">
                          <a:solidFill>
                            <a:srgbClr val="1A23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Plný obraz na žádost</a:t>
                      </a:r>
                      <a:endParaRPr lang="en-US" sz="1317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8535" marR="58535" marT="58535" marB="5853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44"/>
                        </a:lnSpc>
                        <a:buNone/>
                      </a:pPr>
                      <a:r>
                        <a:rPr lang="en-US" sz="1317" dirty="0">
                          <a:solidFill>
                            <a:srgbClr val="2E9E5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povoluje nebo odmítá, může ukončit</a:t>
                      </a:r>
                      <a:endParaRPr lang="en-US" sz="1317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8535" marR="58535" marT="58535" marB="5853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44"/>
                        </a:lnSpc>
                        <a:buNone/>
                      </a:pPr>
                      <a:r>
                        <a:rPr lang="en-US" sz="1317" dirty="0">
                          <a:solidFill>
                            <a:srgbClr val="3B5BFF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žádá s důvodem, může ukončit</a:t>
                      </a:r>
                      <a:endParaRPr lang="en-US" sz="1317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8535" marR="58535" marT="58535" marB="5853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480">
                <a:tc>
                  <a:txBody>
                    <a:bodyPr/>
                    <a:lstStyle/>
                    <a:p>
                      <a:pPr marL="0" indent="0">
                        <a:lnSpc>
                          <a:spcPts val="1844"/>
                        </a:lnSpc>
                        <a:buNone/>
                      </a:pPr>
                      <a:r>
                        <a:rPr lang="en-US" sz="1317" dirty="0">
                          <a:solidFill>
                            <a:srgbClr val="1A23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Nouzový přístup (10 min při kritickém alertu)</a:t>
                      </a:r>
                      <a:endParaRPr lang="en-US" sz="1317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8535" marR="58535" marT="58535" marB="5853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44"/>
                        </a:lnSpc>
                        <a:buNone/>
                      </a:pPr>
                      <a:r>
                        <a:rPr lang="en-US" sz="1317" dirty="0">
                          <a:solidFill>
                            <a:srgbClr val="2E9E5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povoluje předem, dozví se hned</a:t>
                      </a:r>
                      <a:endParaRPr lang="en-US" sz="1317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8535" marR="58535" marT="58535" marB="58535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44"/>
                        </a:lnSpc>
                        <a:buNone/>
                      </a:pPr>
                      <a:r>
                        <a:rPr lang="en-US" sz="1317" dirty="0">
                          <a:solidFill>
                            <a:srgbClr val="3B5BFF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použije, zapsáno v auditu</a:t>
                      </a:r>
                      <a:endParaRPr lang="en-US" sz="1317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8535" marR="58535" marT="58535" marB="58535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480">
                <a:tc>
                  <a:txBody>
                    <a:bodyPr/>
                    <a:lstStyle/>
                    <a:p>
                      <a:pPr marL="0" indent="0">
                        <a:lnSpc>
                          <a:spcPts val="1844"/>
                        </a:lnSpc>
                        <a:buNone/>
                      </a:pPr>
                      <a:r>
                        <a:rPr lang="en-US" sz="1317" dirty="0">
                          <a:solidFill>
                            <a:srgbClr val="1A23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Klid (ztišení informativních zpráv)</a:t>
                      </a:r>
                      <a:endParaRPr lang="en-US" sz="1317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8535" marR="58535" marT="58535" marB="5853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44"/>
                        </a:lnSpc>
                        <a:buNone/>
                      </a:pPr>
                      <a:r>
                        <a:rPr lang="en-US" sz="1317" dirty="0">
                          <a:solidFill>
                            <a:srgbClr val="2E9E5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nastavuje</a:t>
                      </a:r>
                      <a:endParaRPr lang="en-US" sz="1317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8535" marR="58535" marT="58535" marB="5853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44"/>
                        </a:lnSpc>
                        <a:buNone/>
                      </a:pPr>
                      <a:r>
                        <a:rPr lang="en-US" sz="1317" dirty="0">
                          <a:solidFill>
                            <a:srgbClr val="1A23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netýká se, fronta běží dál</a:t>
                      </a:r>
                      <a:endParaRPr lang="en-US" sz="1317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8535" marR="58535" marT="58535" marB="5853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530">
                <a:tc>
                  <a:txBody>
                    <a:bodyPr/>
                    <a:lstStyle/>
                    <a:p>
                      <a:pPr marL="0" indent="0">
                        <a:lnSpc>
                          <a:spcPts val="1844"/>
                        </a:lnSpc>
                        <a:buNone/>
                      </a:pPr>
                      <a:r>
                        <a:rPr lang="en-US" sz="1317" dirty="0">
                          <a:solidFill>
                            <a:srgbClr val="1A23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Hlídané události, hodiny, nahrávání</a:t>
                      </a:r>
                      <a:endParaRPr lang="en-US" sz="1317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8535" marR="58535" marT="58535" marB="5853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44"/>
                        </a:lnSpc>
                        <a:buNone/>
                      </a:pPr>
                      <a:r>
                        <a:rPr lang="en-US" sz="1317" dirty="0">
                          <a:solidFill>
                            <a:srgbClr val="1A23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vidí ke čtení</a:t>
                      </a:r>
                      <a:endParaRPr lang="en-US" sz="1317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8535" marR="58535" marT="58535" marB="58535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44"/>
                        </a:lnSpc>
                        <a:buNone/>
                      </a:pPr>
                      <a:r>
                        <a:rPr lang="en-US" sz="1317" dirty="0">
                          <a:solidFill>
                            <a:srgbClr val="3B5BFF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nastavuje</a:t>
                      </a:r>
                      <a:endParaRPr lang="en-US" sz="1317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8535" marR="58535" marT="58535" marB="58535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530">
                <a:tc>
                  <a:txBody>
                    <a:bodyPr/>
                    <a:lstStyle/>
                    <a:p>
                      <a:pPr marL="0" indent="0">
                        <a:lnSpc>
                          <a:spcPts val="1844"/>
                        </a:lnSpc>
                        <a:buNone/>
                      </a:pPr>
                      <a:r>
                        <a:rPr lang="en-US" sz="1317" dirty="0">
                          <a:solidFill>
                            <a:srgbClr val="1A23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Účty rodiny, pozvánky SMS</a:t>
                      </a:r>
                      <a:endParaRPr lang="en-US" sz="1317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8535" marR="58535" marT="58535" marB="5853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44"/>
                        </a:lnSpc>
                        <a:buNone/>
                      </a:pPr>
                      <a:r>
                        <a:rPr lang="en-US" sz="1317" dirty="0">
                          <a:solidFill>
                            <a:srgbClr val="1A23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přijme pozvánku, zvolí heslo</a:t>
                      </a:r>
                      <a:endParaRPr lang="en-US" sz="1317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8535" marR="58535" marT="58535" marB="5853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44"/>
                        </a:lnSpc>
                        <a:buNone/>
                      </a:pPr>
                      <a:r>
                        <a:rPr lang="en-US" sz="1317" dirty="0">
                          <a:solidFill>
                            <a:srgbClr val="3B5BFF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zakládá a ruší</a:t>
                      </a:r>
                      <a:endParaRPr lang="en-US" sz="1317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8535" marR="58535" marT="58535" marB="5853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8636">
                <a:tc>
                  <a:txBody>
                    <a:bodyPr/>
                    <a:lstStyle/>
                    <a:p>
                      <a:pPr marL="0" indent="0">
                        <a:lnSpc>
                          <a:spcPts val="1844"/>
                        </a:lnSpc>
                        <a:buNone/>
                      </a:pPr>
                      <a:r>
                        <a:rPr lang="en-US" sz="1317" dirty="0">
                          <a:solidFill>
                            <a:srgbClr val="1A23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Údaje poskytovatele (název, telefon, dispečer)</a:t>
                      </a:r>
                      <a:endParaRPr lang="en-US" sz="1317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8535" marR="58535" marT="58535" marB="5853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44"/>
                        </a:lnSpc>
                        <a:buNone/>
                      </a:pPr>
                      <a:r>
                        <a:rPr lang="en-US" sz="1317" dirty="0">
                          <a:solidFill>
                            <a:srgbClr val="1A234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vidí v aplikaci</a:t>
                      </a:r>
                      <a:endParaRPr lang="en-US" sz="1317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8535" marR="58535" marT="58535" marB="58535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44"/>
                        </a:lnSpc>
                        <a:buNone/>
                      </a:pPr>
                      <a:r>
                        <a:rPr lang="en-US" sz="1317" dirty="0">
                          <a:solidFill>
                            <a:srgbClr val="3B5BFF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zadává na jednom místě</a:t>
                      </a:r>
                      <a:endParaRPr lang="en-US" sz="1317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8535" marR="58535" marT="58535" marB="58535">
                    <a:lnL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16600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Famicura Kamera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3B5B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PŘÍBĚH · BĚŽNÝ DEN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1569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A234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Většinu dní se nic neděje, a to je dobře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75755"/>
            <a:ext cx="3414167" cy="1939230"/>
          </a:xfrm>
          <a:prstGeom prst="roundRect">
            <a:avLst>
              <a:gd name="adj" fmla="val 6385"/>
            </a:avLst>
          </a:prstGeom>
          <a:solidFill>
            <a:srgbClr val="FFFFFF"/>
          </a:solidFill>
          <a:ln w="635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1022350" y="2282130"/>
            <a:ext cx="309145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B5B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07:10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2350" y="2576761"/>
            <a:ext cx="309145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Ráno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2350" y="2884091"/>
            <a:ext cx="3091459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Kamera hlásí osobu a pohyb. Jsou to informativní události: zapíšou se do historie, nikoho nebudí.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8892" y="2075755"/>
            <a:ext cx="3414216" cy="1939230"/>
          </a:xfrm>
          <a:prstGeom prst="roundRect">
            <a:avLst>
              <a:gd name="adj" fmla="val 6385"/>
            </a:avLst>
          </a:prstGeom>
          <a:solidFill>
            <a:srgbClr val="FFFFFF"/>
          </a:solidFill>
          <a:ln w="635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4595267" y="2282130"/>
            <a:ext cx="30915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B5B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14:30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95267" y="2576761"/>
            <a:ext cx="309151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Odpoledne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5267" y="2884091"/>
            <a:ext cx="3091510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Dcera otevře aplikaci: Vše v pořádku, poslední událost pohyb ve 13:52. Obraz v rozostření, jak sama nastavila.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61858" y="2075755"/>
            <a:ext cx="3414167" cy="1939230"/>
          </a:xfrm>
          <a:prstGeom prst="roundRect">
            <a:avLst>
              <a:gd name="adj" fmla="val 6385"/>
            </a:avLst>
          </a:prstGeom>
          <a:solidFill>
            <a:srgbClr val="FFFFFF"/>
          </a:solidFill>
          <a:ln w="635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8168233" y="2282130"/>
            <a:ext cx="309145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B5B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22:00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68233" y="2576761"/>
            <a:ext cx="309145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68233" y="2884091"/>
            <a:ext cx="3091459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Automaticky přepne noční nastavení: drátěný model. Dispečink vidí jen kostru postavy, pád by poznal, soukromí zůstává.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800" y="4272161"/>
            <a:ext cx="10566400" cy="660400"/>
          </a:xfrm>
          <a:prstGeom prst="roundRect">
            <a:avLst>
              <a:gd name="adj" fmla="val 19231"/>
            </a:avLst>
          </a:prstGeom>
          <a:solidFill>
            <a:srgbClr val="14205A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7" name="Image 0" descr="Lightbulb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1400" y="4449961"/>
            <a:ext cx="304800" cy="3048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47800" y="4469011"/>
            <a:ext cx="964049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8F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Dispečink v klidný den jen vidí zelené dlaždice. Žádný alert, žádná práce, žádné sledování bytu.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12800" y="6238280"/>
            <a:ext cx="16600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Famicura Kamera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A1262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PŘÍBĚH · ALERT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1569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A234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 noci kamera hlásí možný pád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72580"/>
            <a:ext cx="3420517" cy="1696591"/>
          </a:xfrm>
          <a:prstGeom prst="roundRect">
            <a:avLst>
              <a:gd name="adj" fmla="val 7486"/>
            </a:avLst>
          </a:prstGeom>
          <a:solidFill>
            <a:srgbClr val="FDE8E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1016000" y="2275780"/>
            <a:ext cx="31045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1262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02:14 · dispečink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000" y="2570411"/>
            <a:ext cx="3104540" cy="1020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Červený pruh nahoře, zvuk, dlaždice paní Marie je kritická. Dispečerka klepne na </a:t>
            </a:r>
            <a:r>
              <a:rPr lang="en-US" sz="14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Převzít</a:t>
            </a:r>
            <a:r>
              <a:rPr lang="en-US" sz="1400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: od té chvíle rodina vidí její jméno u alertu.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5717" y="2072580"/>
            <a:ext cx="3420566" cy="1696591"/>
          </a:xfrm>
          <a:prstGeom prst="roundRect">
            <a:avLst>
              <a:gd name="adj" fmla="val 7486"/>
            </a:avLst>
          </a:prstGeom>
          <a:solidFill>
            <a:srgbClr val="FDE8E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4588917" y="2275780"/>
            <a:ext cx="310459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1262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02:14 · telefon rodiny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88917" y="2570411"/>
            <a:ext cx="3104591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Notifikace Možný pád s vibrací, i když má rodina zapnutý Klid. Kritické události projdou vždy.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58683" y="2072580"/>
            <a:ext cx="3420517" cy="1696591"/>
          </a:xfrm>
          <a:prstGeom prst="roundRect">
            <a:avLst>
              <a:gd name="adj" fmla="val 7486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8161883" y="2275780"/>
            <a:ext cx="31045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B5B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02:15 · rozhodnutí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61883" y="2570411"/>
            <a:ext cx="3104540" cy="1020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Dispečerka vidí jen drátěný model: postava leží na zemi. Potřebuje plný obraz, aby poznala, zda volat záchranku.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5975" y="4026346"/>
            <a:ext cx="5200650" cy="1052810"/>
          </a:xfrm>
          <a:prstGeom prst="roundRect">
            <a:avLst>
              <a:gd name="adj" fmla="val 10555"/>
            </a:avLst>
          </a:prstGeom>
          <a:noFill/>
          <a:ln w="635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996950" y="4181921"/>
            <a:ext cx="498386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Cesta A: žádost o plný obraz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96950" y="4461321"/>
            <a:ext cx="4983861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Rodina je vzhůru nebo ji probudí telefon. Povolí plný obraz na 15 minut. Další slide.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5375" y="4026346"/>
            <a:ext cx="5200650" cy="1052810"/>
          </a:xfrm>
          <a:prstGeom prst="roundRect">
            <a:avLst>
              <a:gd name="adj" fmla="val 10555"/>
            </a:avLst>
          </a:prstGeom>
          <a:noFill/>
          <a:ln w="635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6356350" y="4181921"/>
            <a:ext cx="498386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Cesta B: nouzový přístup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6350" y="4461321"/>
            <a:ext cx="4983861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Rodina ho předem povolila: dispečerka otevře plný obraz na 10 minut hned, rodina dostane zprávu.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17697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Famicura Kamera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4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74"/>
              </a:lnSpc>
              <a:buNone/>
            </a:pPr>
            <a:r>
              <a:rPr lang="en-US" sz="1124" b="1" kern="0" spc="100" dirty="0">
                <a:solidFill>
                  <a:srgbClr val="3B5B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ŽÁDOST O PLNÝ OBRAZ KROK ZA KROKEM</a:t>
            </a:r>
            <a:endParaRPr lang="en-US" sz="1124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40780"/>
            <a:ext cx="11379200" cy="831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7"/>
              </a:lnSpc>
              <a:buNone/>
            </a:pPr>
            <a:r>
              <a:rPr lang="en-US" sz="3442" b="1" i="0" dirty="0">
                <a:solidFill>
                  <a:srgbClr val="1A234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Dispečink žádá, rodina rozhoduje, obojí do minuty</a:t>
            </a:r>
            <a:endParaRPr lang="en-US" sz="3442" dirty="0"/>
          </a:p>
        </p:txBody>
      </p:sp>
      <p:sp>
        <p:nvSpPr>
          <p:cNvPr id="4" name="Shape 2"/>
          <p:cNvSpPr/>
          <p:nvPr/>
        </p:nvSpPr>
        <p:spPr>
          <a:xfrm>
            <a:off x="815975" y="2278311"/>
            <a:ext cx="2292350" cy="1805732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6950" y="2459286"/>
            <a:ext cx="1988312" cy="389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7"/>
              </a:lnSpc>
              <a:buNone/>
            </a:pPr>
            <a:r>
              <a:rPr lang="en-US" sz="2048" b="1" dirty="0">
                <a:solidFill>
                  <a:srgbClr val="3B5B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2048" dirty="0"/>
          </a:p>
        </p:txBody>
      </p:sp>
      <p:sp>
        <p:nvSpPr>
          <p:cNvPr id="6" name="Text 4"/>
          <p:cNvSpPr/>
          <p:nvPr/>
        </p:nvSpPr>
        <p:spPr>
          <a:xfrm>
            <a:off x="996950" y="2886621"/>
            <a:ext cx="1988312" cy="220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9"/>
              </a:lnSpc>
              <a:buNone/>
            </a:pPr>
            <a:r>
              <a:rPr lang="en-US" sz="1308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Dispečink</a:t>
            </a:r>
            <a:endParaRPr lang="en-US" sz="1308" dirty="0"/>
          </a:p>
        </p:txBody>
      </p:sp>
      <p:sp>
        <p:nvSpPr>
          <p:cNvPr id="7" name="Text 5"/>
          <p:cNvSpPr/>
          <p:nvPr/>
        </p:nvSpPr>
        <p:spPr>
          <a:xfrm>
            <a:off x="996950" y="3145036"/>
            <a:ext cx="1988312" cy="783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93"/>
              </a:lnSpc>
              <a:buNone/>
            </a:pPr>
            <a:r>
              <a:rPr lang="en-US" sz="1066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 detailu klienta klepne na Požádat rodinu o plný obraz a vybere důvod, třeba ověření alertu.</a:t>
            </a:r>
            <a:endParaRPr lang="en-US" sz="1066" dirty="0"/>
          </a:p>
        </p:txBody>
      </p:sp>
      <p:pic>
        <p:nvPicPr>
          <p:cNvPr id="8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13100" y="3143052"/>
            <a:ext cx="254000" cy="76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71875" y="2278311"/>
            <a:ext cx="2292350" cy="1805732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7"/>
          <p:cNvSpPr/>
          <p:nvPr/>
        </p:nvSpPr>
        <p:spPr>
          <a:xfrm>
            <a:off x="3752850" y="2459286"/>
            <a:ext cx="1988312" cy="343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D93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752850" y="2840831"/>
            <a:ext cx="1988312" cy="19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3"/>
              </a:lnSpc>
              <a:buNone/>
            </a:pPr>
            <a:r>
              <a:rPr lang="en-US" sz="1144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Telefon rodiny</a:t>
            </a:r>
            <a:endParaRPr lang="en-US" sz="1144" dirty="0"/>
          </a:p>
        </p:txBody>
      </p:sp>
      <p:sp>
        <p:nvSpPr>
          <p:cNvPr id="12" name="Text 9"/>
          <p:cNvSpPr/>
          <p:nvPr/>
        </p:nvSpPr>
        <p:spPr>
          <a:xfrm>
            <a:off x="3752850" y="3074739"/>
            <a:ext cx="1988312" cy="853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30"/>
              </a:lnSpc>
              <a:buNone/>
            </a:pPr>
            <a:r>
              <a:rPr lang="en-US" sz="1164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Žádost přes celou obrazovku, bliká, zní a vibruje, dokud ji rodina nevyřídí. Vidí kdo žádá a proč.</a:t>
            </a:r>
            <a:endParaRPr lang="en-US" sz="1164" dirty="0"/>
          </a:p>
        </p:txBody>
      </p:sp>
      <p:pic>
        <p:nvPicPr>
          <p:cNvPr id="13" name="Image 1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69000" y="3143052"/>
            <a:ext cx="254000" cy="76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27775" y="2278311"/>
            <a:ext cx="2292350" cy="1805732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1"/>
          <p:cNvSpPr/>
          <p:nvPr/>
        </p:nvSpPr>
        <p:spPr>
          <a:xfrm>
            <a:off x="6508750" y="2459286"/>
            <a:ext cx="1988312" cy="343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D935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508750" y="2840831"/>
            <a:ext cx="1988312" cy="19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3"/>
              </a:lnSpc>
              <a:buNone/>
            </a:pPr>
            <a:r>
              <a:rPr lang="en-US" sz="1144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Rozhodnutí</a:t>
            </a:r>
            <a:endParaRPr lang="en-US" sz="1144" dirty="0"/>
          </a:p>
        </p:txBody>
      </p:sp>
      <p:sp>
        <p:nvSpPr>
          <p:cNvPr id="17" name="Text 13"/>
          <p:cNvSpPr/>
          <p:nvPr/>
        </p:nvSpPr>
        <p:spPr>
          <a:xfrm>
            <a:off x="6508750" y="3074739"/>
            <a:ext cx="1988312" cy="853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02"/>
              </a:lnSpc>
              <a:buNone/>
            </a:pPr>
            <a:r>
              <a:rPr lang="en-US" sz="1145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Povolit na 15 minut, Povolit do odvolání, nebo Odmítnout. Bez odpovědi do 10 minut zůstane dosavadní režim.</a:t>
            </a:r>
            <a:endParaRPr lang="en-US" sz="1145" dirty="0"/>
          </a:p>
        </p:txBody>
      </p:sp>
      <p:pic>
        <p:nvPicPr>
          <p:cNvPr id="18" name="Image 2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24900" y="3143052"/>
            <a:ext cx="254000" cy="762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083675" y="2278311"/>
            <a:ext cx="2292350" cy="1805732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Text 15"/>
          <p:cNvSpPr/>
          <p:nvPr/>
        </p:nvSpPr>
        <p:spPr>
          <a:xfrm>
            <a:off x="9264650" y="2459286"/>
            <a:ext cx="1988312" cy="343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E9E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9264650" y="2840831"/>
            <a:ext cx="1988312" cy="19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3"/>
              </a:lnSpc>
              <a:buNone/>
            </a:pPr>
            <a:r>
              <a:rPr lang="en-US" sz="1144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Plný obraz</a:t>
            </a:r>
            <a:endParaRPr lang="en-US" sz="1144" dirty="0"/>
          </a:p>
        </p:txBody>
      </p:sp>
      <p:sp>
        <p:nvSpPr>
          <p:cNvPr id="22" name="Text 17"/>
          <p:cNvSpPr/>
          <p:nvPr/>
        </p:nvSpPr>
        <p:spPr>
          <a:xfrm>
            <a:off x="9264650" y="3074739"/>
            <a:ext cx="1988312" cy="853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30"/>
              </a:lnSpc>
              <a:buNone/>
            </a:pPr>
            <a:r>
              <a:rPr lang="en-US" sz="1164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Dispečink vidí plný obraz, rodina vidí kdo se dívá a do kdy. Kdokoli to může ukončit, po čase se vrátí nastavení.</a:t>
            </a:r>
            <a:endParaRPr lang="en-US" sz="1164" dirty="0"/>
          </a:p>
        </p:txBody>
      </p:sp>
      <p:sp>
        <p:nvSpPr>
          <p:cNvPr id="23" name="Shape 18"/>
          <p:cNvSpPr/>
          <p:nvPr/>
        </p:nvSpPr>
        <p:spPr>
          <a:xfrm>
            <a:off x="812800" y="4539159"/>
            <a:ext cx="6350000" cy="10795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4" name="Image 3" descr="Dispečink: řádek s důvodem žádosti a tlačítkem Odeslat žádos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4797928"/>
            <a:ext cx="6337300" cy="561961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15975" y="4542334"/>
            <a:ext cx="6343650" cy="1073150"/>
          </a:xfrm>
          <a:prstGeom prst="roundRect">
            <a:avLst>
              <a:gd name="adj" fmla="val 6805"/>
            </a:avLst>
          </a:prstGeom>
          <a:noFill/>
          <a:ln w="635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26" name="Image 4" descr="Telefon rodiny: žádost o plný obraz přes celou obrazovku s tlačítky Povolit a Odmítnou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4248" y="4132759"/>
            <a:ext cx="874404" cy="1892300"/>
          </a:xfrm>
          <a:custGeom>
            <a:avLst/>
            <a:gdLst/>
            <a:ahLst/>
            <a:cxnLst/>
            <a:rect l="l" t="t" r="r" b="b"/>
            <a:pathLst>
              <a:path w="874404" h="1892300">
                <a:moveTo>
                  <a:pt x="0" y="16753"/>
                </a:moveTo>
                <a:arcTo wR="82550" hR="82550" stAng="13971013" swAng="2228987"/>
                <a:lnTo>
                  <a:pt x="824552" y="0"/>
                </a:lnTo>
                <a:arcTo wR="82550" hR="82550" stAng="16200000" swAng="2228987"/>
                <a:lnTo>
                  <a:pt x="874404" y="1875547"/>
                </a:lnTo>
                <a:arcTo wR="82550" hR="82550" stAng="3171013" swAng="2228987"/>
                <a:lnTo>
                  <a:pt x="49852" y="1892300"/>
                </a:lnTo>
                <a:arcTo wR="82550" hR="82550" stAng="5400000" swAng="2228987"/>
                <a:close/>
              </a:path>
            </a:pathLst>
          </a:custGeom>
        </p:spPr>
      </p:pic>
      <p:sp>
        <p:nvSpPr>
          <p:cNvPr id="27" name="Shape 20"/>
          <p:cNvSpPr/>
          <p:nvPr/>
        </p:nvSpPr>
        <p:spPr>
          <a:xfrm>
            <a:off x="7318375" y="4129584"/>
            <a:ext cx="946150" cy="1898650"/>
          </a:xfrm>
          <a:prstGeom prst="roundRect">
            <a:avLst>
              <a:gd name="adj" fmla="val 9060"/>
            </a:avLst>
          </a:prstGeom>
          <a:noFill/>
          <a:ln w="635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8" name="Text 21"/>
          <p:cNvSpPr/>
          <p:nvPr/>
        </p:nvSpPr>
        <p:spPr>
          <a:xfrm>
            <a:off x="8420100" y="4732189"/>
            <a:ext cx="3047873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Každá žádost, povolení i ukončení je v historii na obou stranách. Nikdo se nedívá bez vědomí rodiny.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812800" y="6238280"/>
            <a:ext cx="17697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Famicura Kamera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0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F08B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NOUZOVÝ PŘÍSTUP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1569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8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Když jde o minuty, nečeká se na odpověď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72580"/>
            <a:ext cx="3386634" cy="1788021"/>
          </a:xfrm>
          <a:prstGeom prst="roundRect">
            <a:avLst>
              <a:gd name="adj" fmla="val 7103"/>
            </a:avLst>
          </a:prstGeom>
          <a:solidFill>
            <a:srgbClr val="1B4FB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1041400" y="2301180"/>
            <a:ext cx="315803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8F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Kdy ho dispečink může použít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41400" y="2636441"/>
            <a:ext cx="3017317" cy="1020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DCE6F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Jen při otevřeném kritickém alertu (pád, dlouhé ležení, SOS) a jen když rodina nouzový přístup předem povolila v aplikaci.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2634" y="2072580"/>
            <a:ext cx="3386683" cy="1788021"/>
          </a:xfrm>
          <a:prstGeom prst="roundRect">
            <a:avLst>
              <a:gd name="adj" fmla="val 7103"/>
            </a:avLst>
          </a:prstGeom>
          <a:solidFill>
            <a:srgbClr val="1B4FB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4631234" y="2301180"/>
            <a:ext cx="3017368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8F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 se stane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31234" y="2636441"/>
            <a:ext cx="3017368" cy="1020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DCE6F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Plný obraz na 10 minut. Rodina dostane okamžitě zprávu, kdo a proč ho otevřel. Pak se obraz vrátí do nastaveného režimu.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2517" y="2072580"/>
            <a:ext cx="3386683" cy="1788021"/>
          </a:xfrm>
          <a:prstGeom prst="roundRect">
            <a:avLst>
              <a:gd name="adj" fmla="val 7103"/>
            </a:avLst>
          </a:prstGeom>
          <a:solidFill>
            <a:srgbClr val="1B4FB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8221117" y="2301180"/>
            <a:ext cx="3017368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8F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 zůstává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1117" y="2636441"/>
            <a:ext cx="3017368" cy="1020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DCE6F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Zápis v historii na obou stranách (audit). Rodina může nouzový přístup kdykoli vypnout; pak dispečink musí vždy žádat.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4114602"/>
            <a:ext cx="1088339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BFD0F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Doporučení pro rodinu při instalaci: nouzový přístup zapnout. Je to rozdíl mezi zavoláním záchranky hned a za deset minut.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17697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FD0F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Famicura Kamera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D935F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KLID A SOUKROMÍ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15690"/>
            <a:ext cx="10883392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A234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Rodina si řídí, co ji ruší; data zůstávají doma v Česku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575471"/>
            <a:ext cx="3386634" cy="2138511"/>
          </a:xfrm>
          <a:prstGeom prst="roundRect">
            <a:avLst>
              <a:gd name="adj" fmla="val 5939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1041400" y="2804071"/>
            <a:ext cx="3017317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Klid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41400" y="3152031"/>
            <a:ext cx="3017317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Na 2 hodiny, do rána, do večera, do vypnutí. Informativní zprávy a varování pak nechodí.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1400" y="3987602"/>
            <a:ext cx="3017317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Kritické události, žádost o plný obraz a nouzový přístup projdou vždy.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2634" y="2575471"/>
            <a:ext cx="3386683" cy="2387402"/>
          </a:xfrm>
          <a:prstGeom prst="roundRect">
            <a:avLst>
              <a:gd name="adj" fmla="val 5320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4631234" y="2804071"/>
            <a:ext cx="3017368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Soukromí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31234" y="3152031"/>
            <a:ext cx="3017368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Obraz jde šifrovaným tunelem na server Famicura. Z internetu kamera dostupná není.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31234" y="3987602"/>
            <a:ext cx="3017368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Rodina se přihlašuje vlastním účtem, poskytovatel heslem. Každý vidí jen své klienty.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2517" y="2575471"/>
            <a:ext cx="3386683" cy="2138511"/>
          </a:xfrm>
          <a:prstGeom prst="roundRect">
            <a:avLst>
              <a:gd name="adj" fmla="val 5939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8221117" y="2804071"/>
            <a:ext cx="3017368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Historie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1117" y="3152031"/>
            <a:ext cx="3017368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Každá událost, souhlas, žádost, povolení i nouzový přístup je zapsaný s časem a jménem.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1117" y="3987602"/>
            <a:ext cx="301736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Rodina i poskytovatel vidí totéž. Nic se neděje potichu.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17697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Famicura Kamera ·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3B5B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PROVOZ A PODPORA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1569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A234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 se stane, když něco nejde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75755"/>
            <a:ext cx="2520950" cy="2513261"/>
          </a:xfrm>
          <a:prstGeom prst="roundRect">
            <a:avLst>
              <a:gd name="adj" fmla="val 4927"/>
            </a:avLst>
          </a:prstGeom>
          <a:solidFill>
            <a:srgbClr val="FFFFFF"/>
          </a:solidFill>
          <a:ln w="635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5" name="Image 0" descr="Cloud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2350" y="2282130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2350" y="2663130"/>
            <a:ext cx="2171446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Výpadek internetu u klienta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22350" y="3226991"/>
            <a:ext cx="2171446" cy="1181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Dlaždice ukáže Kamera nedostupná, dispečink dostane technický alert. Po návratu spojení se tunel obnoví sám.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95675" y="2075755"/>
            <a:ext cx="2520950" cy="2513261"/>
          </a:xfrm>
          <a:prstGeom prst="roundRect">
            <a:avLst>
              <a:gd name="adj" fmla="val 4927"/>
            </a:avLst>
          </a:prstGeom>
          <a:solidFill>
            <a:srgbClr val="FFFFFF"/>
          </a:solidFill>
          <a:ln w="635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9" name="Image 1" descr="Tool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02050" y="2282130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02050" y="2663130"/>
            <a:ext cx="217144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Diagnostika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702050" y="2983161"/>
            <a:ext cx="2171446" cy="1181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Hlavní aplikace ukáže, zda kamera odpovídá a zda server odebírá události. Postupy pro Mango jsou v návodu.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75375" y="2075755"/>
            <a:ext cx="2520950" cy="2513261"/>
          </a:xfrm>
          <a:prstGeom prst="roundRect">
            <a:avLst>
              <a:gd name="adj" fmla="val 4927"/>
            </a:avLst>
          </a:prstGeom>
          <a:solidFill>
            <a:srgbClr val="FFFFFF"/>
          </a:solidFill>
          <a:ln w="635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3" name="Image 2" descr="Chat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81750" y="2282130"/>
            <a:ext cx="304800" cy="304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81750" y="2663130"/>
            <a:ext cx="217144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Nápověda a asistent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81750" y="2983161"/>
            <a:ext cx="2171446" cy="1181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 dispečinku je nápověda k obsluze a asistent, který odpoví na otázku dispečera, třeba jak požádat o plný obraz.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855075" y="2075755"/>
            <a:ext cx="2520950" cy="2513261"/>
          </a:xfrm>
          <a:prstGeom prst="roundRect">
            <a:avLst>
              <a:gd name="adj" fmla="val 4927"/>
            </a:avLst>
          </a:prstGeom>
          <a:solidFill>
            <a:srgbClr val="FFFFFF"/>
          </a:solidFill>
          <a:ln w="635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7" name="Image 3" descr="Key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61450" y="2282130"/>
            <a:ext cx="304800" cy="304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61450" y="2663130"/>
            <a:ext cx="2171446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Zapomenuté heslo rodiny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9061450" y="3226991"/>
            <a:ext cx="217144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Dispečer pošle novou pozvánku SMS, rodina si zvolí nové heslo. Staré přestane platit.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12800" y="484619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Stěhování klienta: kamera i brána se vezmou s sebou, zapojí k novému internetu a vše běží dál beze změny nastavení.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12800" y="6238280"/>
            <a:ext cx="17697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Famicura Kamera · 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D935F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VYZKOUŠEJTE SI TO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9029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A234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Dva QR kódy, žádná instalace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24955"/>
            <a:ext cx="5175250" cy="2317750"/>
          </a:xfrm>
          <a:prstGeom prst="roundRect">
            <a:avLst>
              <a:gd name="adj" fmla="val 5342"/>
            </a:avLst>
          </a:prstGeom>
          <a:solidFill>
            <a:srgbClr val="FFFFFF"/>
          </a:solidFill>
          <a:ln w="635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5" name="Image 0" descr="QR kód: aplikace rodiny, ukázka bez přihlášení"/>
          <p:cNvPicPr>
            <a:picLocks noChangeAspect="1"/>
          </p:cNvPicPr>
          <p:nvPr/>
        </p:nvPicPr>
        <p:blipFill>
          <a:blip r:embed="rId3"/>
          <a:srcRect t="-97817" b="-97817"/>
          <a:stretch/>
        </p:blipFill>
        <p:spPr>
          <a:xfrm>
            <a:off x="1022350" y="2231330"/>
            <a:ext cx="644376" cy="1905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44526" y="2322810"/>
            <a:ext cx="4058534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Aplikace rodiny na telefonu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844526" y="2660600"/>
            <a:ext cx="4058534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Ukázka bez přihlášení: náhradní scéna místo skutečné kamery, všechno ostatní jako naostro. Zkuste rychlé přepnutí, Klid a žádost dispečera v panelu Simulace.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844526" y="3648621"/>
            <a:ext cx="4058534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B5B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famicuratapo.95-216-201-2.sslip.io/proto/rodina.html?ukazka=1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00775" y="2024955"/>
            <a:ext cx="5175250" cy="2317750"/>
          </a:xfrm>
          <a:prstGeom prst="roundRect">
            <a:avLst>
              <a:gd name="adj" fmla="val 5342"/>
            </a:avLst>
          </a:prstGeom>
          <a:solidFill>
            <a:srgbClr val="FFFFFF"/>
          </a:solidFill>
          <a:ln w="635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0" name="Image 1" descr="QR kód: rozcestník prototypu (rodina, dispečink, provoz)"/>
          <p:cNvPicPr>
            <a:picLocks noChangeAspect="1"/>
          </p:cNvPicPr>
          <p:nvPr/>
        </p:nvPicPr>
        <p:blipFill>
          <a:blip r:embed="rId4"/>
          <a:srcRect t="-84360" b="-84360"/>
          <a:stretch/>
        </p:blipFill>
        <p:spPr>
          <a:xfrm>
            <a:off x="6407150" y="2231330"/>
            <a:ext cx="708918" cy="1905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93868" y="2537420"/>
            <a:ext cx="399205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Dispečink a provoz na počítači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293868" y="2875211"/>
            <a:ext cx="3992055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Rozcestník prototypu: rodina, dispečink, provoz. Dispečink a skutečná kamera jsou za heslem Famicura, které dostanete od nás při předvedení.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293868" y="3632101"/>
            <a:ext cx="399205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B5B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famicuratapo.95-216-201-2.sslip.io/proto/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12800" y="457448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Živé předvedení: dispečink na vašem počítači, aplikace rodiny na telefonu zájemce, skutečná kamera v kanceláři Famicura.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12800" y="6238280"/>
            <a:ext cx="17697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Famicura Kamera · 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0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4205A"/>
              </a:gs>
              <a:gs pos="100000">
                <a:srgbClr val="1B4FB8"/>
              </a:gs>
            </a:gsLst>
            <a:lin ang="4200000" scaled="0"/>
          </a:gra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F08B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PRODEJNÍ SHRNUTÍ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31569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8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Pět vět, které stačí říct rodině</a:t>
            </a:r>
            <a:endParaRPr lang="en-US" sz="3600" dirty="0"/>
          </a:p>
        </p:txBody>
      </p:sp>
      <p:pic>
        <p:nvPicPr>
          <p:cNvPr id="5" name="Image 0" descr="Check"/>
          <p:cNvPicPr>
            <a:picLocks noChangeAspect="1"/>
          </p:cNvPicPr>
          <p:nvPr/>
        </p:nvPicPr>
        <p:blipFill>
          <a:blip r:embed="rId3"/>
          <a:srcRect t="-343" b="-343"/>
          <a:stretch/>
        </p:blipFill>
        <p:spPr>
          <a:xfrm>
            <a:off x="812800" y="2072580"/>
            <a:ext cx="245963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0363" y="2072580"/>
            <a:ext cx="660110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8F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Váš blízký má doma dohled, který hlásí pád, nehybnost nebo nouzové tlačítko.</a:t>
            </a:r>
            <a:endParaRPr lang="en-US" sz="1500" dirty="0"/>
          </a:p>
        </p:txBody>
      </p:sp>
      <p:pic>
        <p:nvPicPr>
          <p:cNvPr id="7" name="Image 1" descr="Check"/>
          <p:cNvPicPr>
            <a:picLocks noChangeAspect="1"/>
          </p:cNvPicPr>
          <p:nvPr/>
        </p:nvPicPr>
        <p:blipFill>
          <a:blip r:embed="rId4"/>
          <a:srcRect t="-563" b="-563"/>
          <a:stretch/>
        </p:blipFill>
        <p:spPr>
          <a:xfrm>
            <a:off x="812800" y="2720280"/>
            <a:ext cx="207218" cy="254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21618" y="2720280"/>
            <a:ext cx="664100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8F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Vy rozhodujete, co poskytovatel vidí: plný obraz, rozostření, drátěný model, nebo jen události.</a:t>
            </a:r>
            <a:endParaRPr lang="en-US" sz="1500" dirty="0"/>
          </a:p>
        </p:txBody>
      </p:sp>
      <p:pic>
        <p:nvPicPr>
          <p:cNvPr id="9" name="Image 2" descr="Check"/>
          <p:cNvPicPr>
            <a:picLocks noChangeAspect="1"/>
          </p:cNvPicPr>
          <p:nvPr/>
        </p:nvPicPr>
        <p:blipFill>
          <a:blip r:embed="rId5"/>
          <a:srcRect l="-500" r="-500"/>
          <a:stretch/>
        </p:blipFill>
        <p:spPr>
          <a:xfrm>
            <a:off x="812800" y="3367980"/>
            <a:ext cx="205234" cy="254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9634" y="3367980"/>
            <a:ext cx="664305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8F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Když dispečink potřebuje vidět víc, musí vás požádat; vy povolíte na 15 minut nebo odmítnete.</a:t>
            </a:r>
            <a:endParaRPr lang="en-US" sz="1500" dirty="0"/>
          </a:p>
        </p:txBody>
      </p:sp>
      <p:pic>
        <p:nvPicPr>
          <p:cNvPr id="11" name="Image 3" descr="Check"/>
          <p:cNvPicPr>
            <a:picLocks noChangeAspect="1"/>
          </p:cNvPicPr>
          <p:nvPr/>
        </p:nvPicPr>
        <p:blipFill>
          <a:blip r:embed="rId6"/>
          <a:srcRect t="-275" b="-275"/>
          <a:stretch/>
        </p:blipFill>
        <p:spPr>
          <a:xfrm>
            <a:off x="812800" y="4015680"/>
            <a:ext cx="189458" cy="2540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03858" y="4015680"/>
            <a:ext cx="665930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8F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 nouzi může poskytovatel otevřít obraz hned, ale jen pokud jste to předem povolili, a vy se to dozvíte.</a:t>
            </a:r>
            <a:endParaRPr lang="en-US" sz="1500" dirty="0"/>
          </a:p>
        </p:txBody>
      </p:sp>
      <p:pic>
        <p:nvPicPr>
          <p:cNvPr id="13" name="Image 4" descr="Check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12800" y="4663380"/>
            <a:ext cx="254000" cy="2540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68400" y="4663380"/>
            <a:ext cx="553003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8F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Všechno je v historii, nic se neděje bez vašeho vědomí.</a:t>
            </a:r>
            <a:endParaRPr lang="en-US" sz="1500" dirty="0"/>
          </a:p>
        </p:txBody>
      </p:sp>
      <p:sp>
        <p:nvSpPr>
          <p:cNvPr id="15" name="Shape 8"/>
          <p:cNvSpPr/>
          <p:nvPr/>
        </p:nvSpPr>
        <p:spPr>
          <a:xfrm>
            <a:off x="7823200" y="2072580"/>
            <a:ext cx="3556000" cy="2754610"/>
          </a:xfrm>
          <a:prstGeom prst="roundRect">
            <a:avLst>
              <a:gd name="adj" fmla="val 5533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Text 9"/>
          <p:cNvSpPr/>
          <p:nvPr/>
        </p:nvSpPr>
        <p:spPr>
          <a:xfrm>
            <a:off x="8051800" y="2301180"/>
            <a:ext cx="319176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 klient potřebuje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8085963" y="2633911"/>
            <a:ext cx="3151505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037" indent="-169037" algn="l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zásuvku a internet (kabel nebo Wi-Fi)</a:t>
            </a:r>
            <a:endParaRPr lang="en-US" sz="1350" dirty="0"/>
          </a:p>
          <a:p>
            <a:pPr marL="169037" indent="-169037" algn="l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kameru Tapo a bránu Mango (dodá poskytovatel)</a:t>
            </a:r>
            <a:endParaRPr lang="en-US" sz="1350" dirty="0"/>
          </a:p>
          <a:p>
            <a:pPr marL="169037" indent="-169037" algn="l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člena rodiny s chytrým telefonem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8051800" y="3751511"/>
            <a:ext cx="319176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234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Cena a kontakt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8051800" y="4084241"/>
            <a:ext cx="3191764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600 </a:t>
            </a:r>
            <a:r>
              <a:rPr lang="en-US" sz="1350" dirty="0" err="1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Kč</a:t>
            </a:r>
            <a:r>
              <a:rPr lang="en-US" sz="135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/měsíc], </a:t>
            </a:r>
            <a:r>
              <a:rPr lang="en-US" sz="1350" dirty="0" err="1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instalace</a:t>
            </a:r>
            <a:r>
              <a:rPr lang="en-US" sz="135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[600 Kč]</a:t>
            </a:r>
            <a:endParaRPr lang="en-US" sz="1350" dirty="0"/>
          </a:p>
          <a:p>
            <a:pPr marL="0" indent="0" algn="l">
              <a:lnSpc>
                <a:spcPts val="2025"/>
              </a:lnSpc>
              <a:buNone/>
            </a:pPr>
            <a:r>
              <a:rPr lang="en-US" sz="1350" dirty="0" err="1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info@famicura.cz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812800" y="6238280"/>
            <a:ext cx="6020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FD0F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Famicura Kamera · 16 · ukázka: famicuratapo.95-216-201-2.sslip.io/proto/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micura Kamera: příběh po instalaci">
  <a:themeElements>
    <a:clrScheme name="Famicura Kamera: příběh po instalaci">
      <a:dk1>
        <a:srgbClr val="1A2340"/>
      </a:dk1>
      <a:lt1>
        <a:srgbClr val="F6F8FC"/>
      </a:lt1>
      <a:dk2>
        <a:srgbClr val="51586F"/>
      </a:dk2>
      <a:lt2>
        <a:srgbClr val="E0E3E9"/>
      </a:lt2>
      <a:accent1>
        <a:srgbClr val="3B5BFF"/>
      </a:accent1>
      <a:accent2>
        <a:srgbClr val="14205A"/>
      </a:accent2>
      <a:accent3>
        <a:srgbClr val="BFD0F2"/>
      </a:accent3>
      <a:accent4>
        <a:srgbClr val="D935F0"/>
      </a:accent4>
      <a:accent5>
        <a:srgbClr val="1B4FB8"/>
      </a:accent5>
      <a:accent6>
        <a:srgbClr val="F08BFF"/>
      </a:accent6>
      <a:hlink>
        <a:srgbClr val="0563C1"/>
      </a:hlink>
      <a:folHlink>
        <a:srgbClr val="954F72"/>
      </a:folHlink>
    </a:clrScheme>
    <a:fontScheme name="Famicura Kamera: příběh po instalaci">
      <a:majorFont>
        <a:latin typeface="Nuni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2180</Words>
  <Application>Microsoft Macintosh PowerPoint</Application>
  <PresentationFormat>Širokoúhlá obrazovka</PresentationFormat>
  <Paragraphs>231</Paragraphs>
  <Slides>16</Slides>
  <Notes>16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20" baseType="lpstr">
      <vt:lpstr>Arial</vt:lpstr>
      <vt:lpstr>Nunito Sans</vt:lpstr>
      <vt:lpstr>Rubik</vt:lpstr>
      <vt:lpstr>Famicura Kamera: příběh po instalaci</vt:lpstr>
      <vt:lpstr>Dohledový systém pro domácnost</vt:lpstr>
      <vt:lpstr>Jedna kamera doma, dvě aplikace, jeden server</vt:lpstr>
      <vt:lpstr>Za půl hodiny je vše připravené</vt:lpstr>
      <vt:lpstr>Co rodina vidí na telefonu</vt:lpstr>
      <vt:lpstr>Čtyři režimy obrazu, den a noc, rychlé přepnutí</vt:lpstr>
      <vt:lpstr>Co vidí dispečink poskytovatele</vt:lpstr>
      <vt:lpstr>Nastavení na jednom místě, nápověda s asistentem</vt:lpstr>
      <vt:lpstr>Rodina rozhoduje o obrazu, poskytovatel o dohledu</vt:lpstr>
      <vt:lpstr>Většinu dní se nic neděje, a to je dobře</vt:lpstr>
      <vt:lpstr>V noci kamera hlásí možný pád</vt:lpstr>
      <vt:lpstr>Dispečink žádá, rodina rozhoduje, obojí do minuty</vt:lpstr>
      <vt:lpstr>Když jde o minuty, nečeká se na odpověď</vt:lpstr>
      <vt:lpstr>Rodina si řídí, co ji ruší; data zůstávají doma v Česku</vt:lpstr>
      <vt:lpstr>Co se stane, když něco nejde</vt:lpstr>
      <vt:lpstr>Dva QR kódy, žádná instalace</vt:lpstr>
      <vt:lpstr>Pět vět, které stačí říct rodině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Famicura Kamera: příběh po instalaci</dc:title>
  <dc:subject/>
  <dc:creator/>
  <cp:lastModifiedBy>Jindřich Hegmon</cp:lastModifiedBy>
  <cp:revision>4</cp:revision>
  <dcterms:created xsi:type="dcterms:W3CDTF">2026-10-03T08:30:21Z</dcterms:created>
  <dcterms:modified xsi:type="dcterms:W3CDTF">2026-10-03T11:53:27Z</dcterms:modified>
</cp:coreProperties>
</file>
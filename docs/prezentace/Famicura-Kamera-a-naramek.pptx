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937f48cc-0e1f-2b9b-9a80-1b9c0f989692}">
          <p14:sldIdLst>
            <p14:sldId id="256"/>
          </p14:sldIdLst>
        </p14:section>
        <p14:section name="Řešení" id="{fa2e8cd2-4d4f-2cc5-da49-8970061329dd}">
          <p14:sldIdLst>
            <p14:sldId id="257"/>
            <p14:sldId id="258"/>
          </p14:sldIdLst>
        </p14:section>
        <p14:section name="Dispečink" id="{588eb7df-f1cc-07a3-4929-8d65492d76c0}">
          <p14:sldIdLst>
            <p14:sldId id="259"/>
            <p14:sldId id="260"/>
          </p14:sldIdLst>
        </p14:section>
        <p14:section name="Uživatelé a komunikace" id="{843b4871-0ffc-1ab5-14a0-db191bc22248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ni">
    <p:bg>
      <p:bgPr>
        <a:solidFill>
          <a:srgbClr val="14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3899c7f-e9d6-5dea-99f1-2eee795ebdca/scratchpad/deck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384048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24128" y="4663440"/>
            <a:ext cx="69494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4A5568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odklad"/>
          <p:cNvSpPr/>
          <p:nvPr/>
        </p:nvSpPr>
        <p:spPr>
          <a:xfrm>
            <a:off x="548640" y="960120"/>
            <a:ext cx="1325880" cy="804672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3" name="Logo Famicura" descr="/tmp/claude-0/-home-claude/c3899c7f-e9d6-5dea-99f1-2eee795ebdca/scratchpad/deck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996696"/>
            <a:ext cx="1216152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57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A8E0"/>
                </a:solidFill>
              </a:rPr>
              <a:t>PÉČE DOMA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Kamera a náramek SOS pro klienta doma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</a:rPr>
              <a:t>Jeden dispečink poskytovatele: obraz z kamery, nouzové tlačítko, pád, poloha a měření zdraví – s upozorněním rodině i službě. Tři úrovně aplikace: rodina, dispečer služby a dispečer administrátor.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E0"/>
                </a:solidFill>
              </a:rPr>
              <a:t>Stav řešení k 9. 10. 2026 · verze 3.26</a:t>
            </a:r>
            <a:endParaRPr lang="en-US" sz="1100" dirty="0"/>
          </a:p>
        </p:txBody>
      </p:sp>
      <p:pic>
        <p:nvPicPr>
          <p:cNvPr id="8" name="Foto přívěsku SOS" descr="/tmp/claude-0/-home-claude/c3899c7f-e9d6-5dea-99f1-2eee795ebdca/scratchpad/deck/img/i-00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548640"/>
            <a:ext cx="25603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Jak řešení funguje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24128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Famicura Kamera · dispečink, aplikace rodiny a hlavní aplikace v jednom serveru</a:t>
            </a:r>
            <a:endParaRPr lang="en-US" sz="1000" dirty="0"/>
          </a:p>
        </p:txBody>
      </p:sp>
      <p:sp>
        <p:nvSpPr>
          <p:cNvPr id="4" name="Karta U KLIENTA"/>
          <p:cNvSpPr/>
          <p:nvPr/>
        </p:nvSpPr>
        <p:spPr>
          <a:xfrm>
            <a:off x="548640" y="1188720"/>
            <a:ext cx="2423160" cy="32004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5" name="U KLIENTA kruh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3B5BF0"/>
          </a:solidFill>
          <a:ln w="12700">
            <a:solidFill>
              <a:srgbClr val="3B5BF0"/>
            </a:solidFill>
            <a:prstDash val="solid"/>
          </a:ln>
        </p:spPr>
      </p:sp>
      <p:pic>
        <p:nvPicPr>
          <p:cNvPr id="6" name="U KLIENTA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316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B5BF0"/>
                </a:solidFill>
              </a:rPr>
              <a:t>U KLIENTA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Kamera a přívěsek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231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Kamera Tapo hlásí pád, dlouhé ležení, osobu, pohyb i zvuk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Přívěsek SOS: nouzové tlačítko, pád, baterie, poloha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Měří tep, tlak a kyslík, sám nebo na povel</a:t>
            </a:r>
            <a:endParaRPr lang="en-US" sz="1200" dirty="0"/>
          </a:p>
        </p:txBody>
      </p:sp>
      <p:pic>
        <p:nvPicPr>
          <p:cNvPr id="10" name="Šipk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2679192"/>
            <a:ext cx="219456" cy="219456"/>
          </a:xfrm>
          <a:prstGeom prst="rect">
            <a:avLst/>
          </a:prstGeom>
        </p:spPr>
      </p:pic>
      <p:sp>
        <p:nvSpPr>
          <p:cNvPr id="11" name="Karta SERVER FAMICURA"/>
          <p:cNvSpPr/>
          <p:nvPr/>
        </p:nvSpPr>
        <p:spPr>
          <a:xfrm>
            <a:off x="3355848" y="1188720"/>
            <a:ext cx="2423160" cy="32004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12" name="SERVER FAMICURA kruh"/>
          <p:cNvSpPr/>
          <p:nvPr/>
        </p:nvSpPr>
        <p:spPr>
          <a:xfrm>
            <a:off x="3584448" y="1417320"/>
            <a:ext cx="457200" cy="457200"/>
          </a:xfrm>
          <a:prstGeom prst="ellipse">
            <a:avLst/>
          </a:prstGeom>
          <a:solidFill>
            <a:srgbClr val="C42BE6"/>
          </a:solidFill>
          <a:ln w="12700">
            <a:solidFill>
              <a:srgbClr val="C42BE6"/>
            </a:solidFill>
            <a:prstDash val="solid"/>
          </a:ln>
        </p:spPr>
      </p:sp>
      <p:pic>
        <p:nvPicPr>
          <p:cNvPr id="13" name="SERVER FAMICURA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48" y="15316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78808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42BE6"/>
                </a:solidFill>
              </a:rPr>
              <a:t>SERVER FAMICURA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3584448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Jedno místo pro data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584448" y="24231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Každý poskytovatel má svá data v Péče doma plus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Nahrávky šifrované na serveru nebo na Google Disku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Čísla a telefony z Péče doma se dosazují samy</a:t>
            </a:r>
            <a:endParaRPr lang="en-US" sz="1200" dirty="0"/>
          </a:p>
        </p:txBody>
      </p:sp>
      <p:pic>
        <p:nvPicPr>
          <p:cNvPr id="17" name="Šipka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679192"/>
            <a:ext cx="219456" cy="219456"/>
          </a:xfrm>
          <a:prstGeom prst="rect">
            <a:avLst/>
          </a:prstGeom>
        </p:spPr>
      </p:pic>
      <p:sp>
        <p:nvSpPr>
          <p:cNvPr id="18" name="Karta KDO TO VIDÍ"/>
          <p:cNvSpPr/>
          <p:nvPr/>
        </p:nvSpPr>
        <p:spPr>
          <a:xfrm>
            <a:off x="6163056" y="1188720"/>
            <a:ext cx="2423160" cy="32004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19" name="KDO TO VIDÍ kruh"/>
          <p:cNvSpPr/>
          <p:nvPr/>
        </p:nvSpPr>
        <p:spPr>
          <a:xfrm>
            <a:off x="6391656" y="1417320"/>
            <a:ext cx="457200" cy="4572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20" name="KDO TO VIDÍ ik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5316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86016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FA36B"/>
                </a:solidFill>
              </a:rPr>
              <a:t>KDO TO VIDÍ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6391656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Dispečink a rodina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391656" y="24231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Dispečer přebírá alerty, volá rodině, nahrává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Rodina určuje, co z obrazu smí dispečink vidět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SMS a e-mail rodině, dispečinku i službě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Kamera Tapo C220 u klienta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24128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Ilustrace otočné vnitřní kamery Tapo C220 · detekce podle toho, co kamera sama nahlásí, že umí</a:t>
            </a:r>
            <a:endParaRPr lang="en-US" sz="1000" dirty="0"/>
          </a:p>
        </p:txBody>
      </p:sp>
      <p:sp>
        <p:nvSpPr>
          <p:cNvPr id="4" name="Podklad kamery"/>
          <p:cNvSpPr/>
          <p:nvPr/>
        </p:nvSpPr>
        <p:spPr>
          <a:xfrm>
            <a:off x="685800" y="1143000"/>
            <a:ext cx="3108960" cy="310896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5" name="Ilustrace Tapo C220" descr="/tmp/claude-0/-home-claude/c3899c7f-e9d6-5dea-99f1-2eee795ebdca/scratchpad/deck/img/k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188720"/>
            <a:ext cx="2011680" cy="23134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703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40"/>
                </a:solidFill>
              </a:rPr>
              <a:t>Tapo C220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977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otočná · noční vidění · Wi-Fi</a:t>
            </a:r>
            <a:endParaRPr lang="en-US" sz="1100" dirty="0"/>
          </a:p>
        </p:txBody>
      </p:sp>
      <p:sp>
        <p:nvSpPr>
          <p:cNvPr id="8" name="Otočná hlava kruh"/>
          <p:cNvSpPr/>
          <p:nvPr/>
        </p:nvSpPr>
        <p:spPr>
          <a:xfrm>
            <a:off x="4251960" y="1143000"/>
            <a:ext cx="457200" cy="457200"/>
          </a:xfrm>
          <a:prstGeom prst="ellipse">
            <a:avLst/>
          </a:prstGeom>
          <a:solidFill>
            <a:srgbClr val="3B5BF0"/>
          </a:solidFill>
          <a:ln w="12700">
            <a:solidFill>
              <a:srgbClr val="3B5BF0"/>
            </a:solidFill>
            <a:prstDash val="solid"/>
          </a:ln>
        </p:spPr>
      </p:sp>
      <p:pic>
        <p:nvPicPr>
          <p:cNvPr id="9" name="Otočná hlava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2573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92040" y="11247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Otočná hlava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892040" y="13898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Dispečer i rodina kameru natočí šipkami v obraze, domů jedním tlačítkem.</a:t>
            </a:r>
            <a:endParaRPr lang="en-US" sz="1200" dirty="0"/>
          </a:p>
        </p:txBody>
      </p:sp>
      <p:sp>
        <p:nvSpPr>
          <p:cNvPr id="12" name="Rozpozná sama kruh"/>
          <p:cNvSpPr/>
          <p:nvPr/>
        </p:nvSpPr>
        <p:spPr>
          <a:xfrm>
            <a:off x="4251960" y="1947672"/>
            <a:ext cx="457200" cy="457200"/>
          </a:xfrm>
          <a:prstGeom prst="ellipse">
            <a:avLst/>
          </a:prstGeom>
          <a:solidFill>
            <a:srgbClr val="C42BE6"/>
          </a:solidFill>
          <a:ln w="12700">
            <a:solidFill>
              <a:srgbClr val="C42BE6"/>
            </a:solidFill>
            <a:prstDash val="solid"/>
          </a:ln>
        </p:spPr>
      </p:sp>
      <p:pic>
        <p:nvPicPr>
          <p:cNvPr id="13" name="Rozpozná sama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206197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92040" y="19293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Rozpozná sama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2194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Osobu, pohyb, překročení čáry, vstup do oblasti, zakrytí kamery i pláč.</a:t>
            </a:r>
            <a:endParaRPr lang="en-US" sz="1200" dirty="0"/>
          </a:p>
        </p:txBody>
      </p:sp>
      <p:sp>
        <p:nvSpPr>
          <p:cNvPr id="16" name="Pád a dlouhé ležení kruh"/>
          <p:cNvSpPr/>
          <p:nvPr/>
        </p:nvSpPr>
        <p:spPr>
          <a:xfrm>
            <a:off x="4251960" y="2752344"/>
            <a:ext cx="457200" cy="457200"/>
          </a:xfrm>
          <a:prstGeom prst="ellipse">
            <a:avLst/>
          </a:prstGeom>
          <a:solidFill>
            <a:srgbClr val="E0403A"/>
          </a:solidFill>
          <a:ln w="12700">
            <a:solidFill>
              <a:srgbClr val="E0403A"/>
            </a:solidFill>
            <a:prstDash val="solid"/>
          </a:ln>
        </p:spPr>
      </p:sp>
      <p:pic>
        <p:nvPicPr>
          <p:cNvPr id="17" name="Pád a dlouhé ležení ik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866644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92040" y="27340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Pád a dlouhé ležení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892040" y="29992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Analýza obrazu přidá pád a dlouhé ležení – jdou do fronty jako kritické.</a:t>
            </a:r>
            <a:endParaRPr lang="en-US" sz="1200" dirty="0"/>
          </a:p>
        </p:txBody>
      </p:sp>
      <p:sp>
        <p:nvSpPr>
          <p:cNvPr id="20" name="Hlídá nepřetržitě kruh"/>
          <p:cNvSpPr/>
          <p:nvPr/>
        </p:nvSpPr>
        <p:spPr>
          <a:xfrm>
            <a:off x="4251960" y="3557016"/>
            <a:ext cx="457200" cy="4572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21" name="Hlídá nepřetržitě ik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3671316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92040" y="35387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Hlídá nepřetržitě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4892040" y="38039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Server drží odběr událostí i bez otevřené aplikace; každá jde do logu.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Monitoring kamer – hlavní displej dispečinku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24128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Plný obraz z kamery Tapo v dispečinku, s šipkami pro otočení kamery</a:t>
            </a:r>
            <a:endParaRPr lang="en-US" sz="1000" dirty="0"/>
          </a:p>
        </p:txBody>
      </p:sp>
      <p:pic>
        <p:nvPicPr>
          <p:cNvPr id="4" name="Obraz kamery v dispečinku" descr="/tmp/claude-0/-home-claude/c3899c7f-e9d6-5dea-99f1-2eee795ebdca/scratchpad/deck/img/i-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257800" cy="299431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</a:rPr>
              <a:t>Co dispečer vidí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0020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Dlaždice každé kamery jen v režimu, který rodina povolila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Fronta alertů: kritické, varování, převzetí a eskalace po 2 minutách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Detail kamery: obraz, otáčení, poznámky, historie a nahrávky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Žádost rodině o plný obraz, nouzový přístup při pádu nebo SOS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Náramek SOS – stav, poloha a zdraví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24128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Přívěsek ReachFar V48: mapa polohy a grafy za 24 h · teplotu zatím zařízení neposílá, řešíme s výrobcem</a:t>
            </a:r>
            <a:endParaRPr lang="en-US" sz="1000" dirty="0"/>
          </a:p>
        </p:txBody>
      </p:sp>
      <p:pic>
        <p:nvPicPr>
          <p:cNvPr id="4" name="Stav náramku v dispečinku" descr="/tmp/claude-0/-home-claude/c3899c7f-e9d6-5dea-99f1-2eee795ebdca/scratchpad/deck/img/i-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074920" cy="32961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</a:rPr>
              <a:t>Co náramek přináší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55448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Nouzové tlačítko, pád a slabá baterie jdou do fronty jako alerty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Poloha na mapě (GPS, nebo přibližná z mobilní sítě)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Tep, tlak a kyslík: tabulka, grafy za 24 h, export do Excelu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Čísla, která přívěsek volá, se vybírají z kontaktů kamery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Vypnutý náramek je jasně označený, dokud se neozve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Tři úrovně aplikace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24128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Všechny tři úrovně pracují nad stejným serverem a daty poskytovatele · mobilní dispečer od verze 3.26</a:t>
            </a:r>
            <a:endParaRPr lang="en-US" sz="1000" dirty="0"/>
          </a:p>
        </p:txBody>
      </p:sp>
      <p:sp>
        <p:nvSpPr>
          <p:cNvPr id="4" name="Úroveň Rodina"/>
          <p:cNvSpPr/>
          <p:nvPr/>
        </p:nvSpPr>
        <p:spPr>
          <a:xfrm>
            <a:off x="548640" y="1143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5" name="Hlavička Rodina"/>
          <p:cNvSpPr/>
          <p:nvPr/>
        </p:nvSpPr>
        <p:spPr>
          <a:xfrm>
            <a:off x="685800" y="1280160"/>
            <a:ext cx="2240280" cy="1188720"/>
          </a:xfrm>
          <a:prstGeom prst="roundRect">
            <a:avLst>
              <a:gd name="adj" fmla="val 7692"/>
            </a:avLst>
          </a:prstGeom>
          <a:solidFill>
            <a:srgbClr val="E5F5EC"/>
          </a:solidFill>
          <a:ln w="12700">
            <a:solidFill>
              <a:srgbClr val="E5F5EC"/>
            </a:solidFill>
            <a:prstDash val="solid"/>
          </a:ln>
        </p:spPr>
      </p:sp>
      <p:sp>
        <p:nvSpPr>
          <p:cNvPr id="6" name="Rodina kruh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7" name="Rodina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5316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A36B"/>
                </a:solidFill>
              </a:rPr>
              <a:t>ÚROVEŇ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Rodina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03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aplikace v telefonu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517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Vidí jen svou kameru: obraz, notifikace, historii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Určuje, co smí dispečink vidět: plný, rozostřený obraz nebo drátěný model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Schvaluje žádost o plný obraz, zapíná Klid</a:t>
            </a:r>
            <a:endParaRPr lang="en-US" sz="1200" dirty="0"/>
          </a:p>
        </p:txBody>
      </p:sp>
      <p:sp>
        <p:nvSpPr>
          <p:cNvPr id="12" name="Úroveň Dispečer služba"/>
          <p:cNvSpPr/>
          <p:nvPr/>
        </p:nvSpPr>
        <p:spPr>
          <a:xfrm>
            <a:off x="3314700" y="1143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13" name="Hlavička Dispečer služba"/>
          <p:cNvSpPr/>
          <p:nvPr/>
        </p:nvSpPr>
        <p:spPr>
          <a:xfrm>
            <a:off x="3451860" y="1280160"/>
            <a:ext cx="2240280" cy="1188720"/>
          </a:xfrm>
          <a:prstGeom prst="roundRect">
            <a:avLst>
              <a:gd name="adj" fmla="val 7692"/>
            </a:avLst>
          </a:prstGeom>
          <a:solidFill>
            <a:srgbClr val="FDF1E0"/>
          </a:solidFill>
          <a:ln w="12700">
            <a:solidFill>
              <a:srgbClr val="FDF1E0"/>
            </a:solidFill>
            <a:prstDash val="solid"/>
          </a:ln>
        </p:spPr>
      </p:sp>
      <p:sp>
        <p:nvSpPr>
          <p:cNvPr id="14" name="Dispečer služba kruh"/>
          <p:cNvSpPr/>
          <p:nvPr/>
        </p:nvSpPr>
        <p:spPr>
          <a:xfrm>
            <a:off x="3589020" y="141732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5" name="Dispečer služba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3162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1833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33A"/>
                </a:solidFill>
              </a:rPr>
              <a:t>ÚROVEŇ 2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58902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Dispečer služba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589020" y="2203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mobilní dispečer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543300" y="26517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Vidí všechny kamery poskytovatele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Jen sleduje, nic nenastavuje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Přihlášení telefonem a heslem, pozvánka přijde SMS</a:t>
            </a:r>
            <a:endParaRPr lang="en-US" sz="1200" dirty="0"/>
          </a:p>
        </p:txBody>
      </p:sp>
      <p:sp>
        <p:nvSpPr>
          <p:cNvPr id="20" name="Úroveň Dispečer administrátor"/>
          <p:cNvSpPr/>
          <p:nvPr/>
        </p:nvSpPr>
        <p:spPr>
          <a:xfrm>
            <a:off x="6080760" y="1143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21" name="Hlavička Dispečer administrátor"/>
          <p:cNvSpPr/>
          <p:nvPr/>
        </p:nvSpPr>
        <p:spPr>
          <a:xfrm>
            <a:off x="6217920" y="1280160"/>
            <a:ext cx="2240280" cy="1188720"/>
          </a:xfrm>
          <a:prstGeom prst="roundRect">
            <a:avLst>
              <a:gd name="adj" fmla="val 7692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2" name="Dispečer administrátor kruh"/>
          <p:cNvSpPr/>
          <p:nvPr/>
        </p:nvSpPr>
        <p:spPr>
          <a:xfrm>
            <a:off x="6355080" y="1417320"/>
            <a:ext cx="457200" cy="457200"/>
          </a:xfrm>
          <a:prstGeom prst="ellipse">
            <a:avLst/>
          </a:prstGeom>
          <a:solidFill>
            <a:srgbClr val="3B5BF0"/>
          </a:solidFill>
          <a:ln w="12700">
            <a:solidFill>
              <a:srgbClr val="3B5BF0"/>
            </a:solidFill>
            <a:prstDash val="solid"/>
          </a:ln>
        </p:spPr>
      </p:sp>
      <p:pic>
        <p:nvPicPr>
          <p:cNvPr id="23" name="Dispečer administrátor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53162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494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B5BF0"/>
                </a:solidFill>
              </a:rPr>
              <a:t>ÚROVEŇ 3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35508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Dispečer administrátor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355080" y="2203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dispečink poskytovatele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309360" y="265176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Přebírá a uzavírá alerty, eskalace, nouzový přístup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Nastavuje kamery, náramky, kontakty a upozornění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Zakládá a deaktivuje účty rodiny i dispečerů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Komunikace – kdo se dozví, že se něco děje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24128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Famicura Kamera 3.26 · 9. 10. 2026 · záložka Komunikace v detailu kamery</a:t>
            </a:r>
            <a:endParaRPr lang="en-US" sz="1000" dirty="0"/>
          </a:p>
        </p:txBody>
      </p:sp>
      <p:sp>
        <p:nvSpPr>
          <p:cNvPr id="4" name="Kontakty kamery"/>
          <p:cNvSpPr/>
          <p:nvPr/>
        </p:nvSpPr>
        <p:spPr>
          <a:xfrm>
            <a:off x="548640" y="1143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5" name="Kontakty kamery kruh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3B5BF0"/>
          </a:solidFill>
          <a:ln w="12700">
            <a:solidFill>
              <a:srgbClr val="3B5BF0"/>
            </a:solidFill>
            <a:prstDash val="solid"/>
          </a:ln>
        </p:spPr>
      </p:sp>
      <p:pic>
        <p:nvPicPr>
          <p:cNvPr id="6" name="Kontakty kamery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4859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Kontakty kamery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574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Rodina: až pět lidí, jméno a mobil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Poskytovatel: dispečink, služba, administrace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Telefon vlastní, nebo z Péče doma / Péče doma plus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Dvě sady e-mailů</a:t>
            </a:r>
            <a:endParaRPr lang="en-US" sz="1200" dirty="0"/>
          </a:p>
        </p:txBody>
      </p:sp>
      <p:sp>
        <p:nvSpPr>
          <p:cNvPr id="9" name="U každé události"/>
          <p:cNvSpPr/>
          <p:nvPr/>
        </p:nvSpPr>
        <p:spPr>
          <a:xfrm>
            <a:off x="3291840" y="1143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8000"/>
              </a:srgbClr>
            </a:outerShdw>
          </a:effectLst>
        </p:spPr>
      </p:sp>
      <p:sp>
        <p:nvSpPr>
          <p:cNvPr id="10" name="U každé události kruh"/>
          <p:cNvSpPr/>
          <p:nvPr/>
        </p:nvSpPr>
        <p:spPr>
          <a:xfrm>
            <a:off x="3520440" y="1371600"/>
            <a:ext cx="457200" cy="457200"/>
          </a:xfrm>
          <a:prstGeom prst="ellipse">
            <a:avLst/>
          </a:prstGeom>
          <a:solidFill>
            <a:srgbClr val="C42BE6"/>
          </a:solidFill>
          <a:ln w="12700">
            <a:solidFill>
              <a:srgbClr val="C42BE6"/>
            </a:solidFill>
            <a:prstDash val="solid"/>
          </a:ln>
        </p:spPr>
      </p:sp>
      <p:pic>
        <p:nvPicPr>
          <p:cNvPr id="11" name="U každé události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4859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U každé události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0574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Hlídat, jen v hodinách, nahrávat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SMS komu: jednotliví lidé, dispečink, služba, administrace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E-mail komu: sada 1, sada 2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Kritické události mají rodinu předem</a:t>
            </a:r>
            <a:endParaRPr lang="en-US" sz="1200" dirty="0"/>
          </a:p>
        </p:txBody>
      </p:sp>
      <p:sp>
        <p:nvSpPr>
          <p:cNvPr id="14" name="Co dál panel"/>
          <p:cNvSpPr/>
          <p:nvPr/>
        </p:nvSpPr>
        <p:spPr>
          <a:xfrm>
            <a:off x="6035040" y="1143000"/>
            <a:ext cx="2560320" cy="3337560"/>
          </a:xfrm>
          <a:prstGeom prst="roundRect">
            <a:avLst>
              <a:gd name="adj" fmla="val 4286"/>
            </a:avLst>
          </a:prstGeom>
          <a:solidFill>
            <a:srgbClr val="14203B"/>
          </a:solidFill>
          <a:ln w="12700">
            <a:solidFill>
              <a:srgbClr val="14203B"/>
            </a:solidFill>
            <a:prstDash val="solid"/>
          </a:ln>
        </p:spPr>
      </p:sp>
      <p:sp>
        <p:nvSpPr>
          <p:cNvPr id="15" name="Co dál kruh"/>
          <p:cNvSpPr/>
          <p:nvPr/>
        </p:nvSpPr>
        <p:spPr>
          <a:xfrm>
            <a:off x="6263640" y="1371600"/>
            <a:ext cx="457200" cy="457200"/>
          </a:xfrm>
          <a:prstGeom prst="ellipse">
            <a:avLst/>
          </a:prstGeom>
          <a:solidFill>
            <a:srgbClr val="7FA8E0"/>
          </a:solidFill>
          <a:ln w="12700">
            <a:solidFill>
              <a:srgbClr val="7FA8E0"/>
            </a:solidFill>
            <a:prstDash val="solid"/>
          </a:ln>
        </p:spPr>
      </p:sp>
      <p:pic>
        <p:nvPicPr>
          <p:cNvPr id="16" name="Co dál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4859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 dál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0574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Teplota z náramku: dořešit s výrobcem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Nasazení u prvních klientů Famicura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Zpětná vazba dispečerů k alertům a nastavení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Kontaktní telefon FamiCura v Péče doma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81728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icura">
  <a:themeElements>
    <a:clrScheme name="Famicura">
      <a:dk1>
        <a:srgbClr val="1A2340"/>
      </a:dk1>
      <a:lt1>
        <a:srgbClr val="FFFFFF"/>
      </a:lt1>
      <a:dk2>
        <a:srgbClr val="14203B"/>
      </a:dk2>
      <a:lt2>
        <a:srgbClr val="F5F7FA"/>
      </a:lt2>
      <a:accent1>
        <a:srgbClr val="3B5BF0"/>
      </a:accent1>
      <a:accent2>
        <a:srgbClr val="C42BE6"/>
      </a:accent2>
      <a:accent3>
        <a:srgbClr val="7FA8E0"/>
      </a:accent3>
      <a:accent4>
        <a:srgbClr val="E0403A"/>
      </a:accent4>
      <a:accent5>
        <a:srgbClr val="2FA36B"/>
      </a:accent5>
      <a:accent6>
        <a:srgbClr val="F2A33A"/>
      </a:accent6>
      <a:hlink>
        <a:srgbClr val="3B5BF0"/>
      </a:hlink>
      <a:folHlink>
        <a:srgbClr val="6D3FC0"/>
      </a:folHlink>
    </a:clrScheme>
    <a:fontScheme name="Famicur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Famicura – Kamera a náramek SOS pro klienta doma</dc:title>
  <dc:subject>PptxGenJS Presentation</dc:subject>
  <dc:creator>Famicura</dc:creator>
  <cp:lastModifiedBy>Famicura</cp:lastModifiedBy>
  <cp:revision>1</cp:revision>
  <dcterms:created xsi:type="dcterms:W3CDTF">2026-10-09T05:06:49Z</dcterms:created>
  <dcterms:modified xsi:type="dcterms:W3CDTF">2026-10-09T05:06:49Z</dcterms:modified>
</cp:coreProperties>
</file>